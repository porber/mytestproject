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</p:sldIdLst>
  <p:sldSz cx="12192000" cy="6858000"/>
  <p:notesSz cx="6858000" cy="9144000"/>
  <p:embeddedFontLst>
    <p:embeddedFont>
      <p:font typeface="Inter"/>
      <p:regular r:id="rId38"/>
    </p:embeddedFont>
    <p:embeddedFont>
      <p:font typeface="FZYaYiHei GB18030L2 R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fonts/font1.fntdata" Type="http://schemas.openxmlformats.org/officeDocument/2006/relationships/font"/><Relationship Id="rId39" Target="fonts/font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各位高管好，欢迎参加2026年Q3的IT工作汇报。今天我将重点向大家汇报EDI BuySell新系统升级专案的阶段性成果。这不仅是一次底层技术的翻新，更是我们IT部门支撑公司国际化扩张与数字化转型战略的核心战役。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的汇报将分为四个核心部分：首先回顾我们为什么要做这次升级以及核心目标；其次详细拆解技术架构的重构方案；第三部分用数据说话，展示改善效益与战略价值；最后汇报跨部门的协同模式以及Q4的冲刺规划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首先，我们进入第一部分，来看看这次系统升级的业务背景与核心要点。大家知道，我们的老系统已经运行了13年，技术债已经成为制约业务发展的瓶颈。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我们现有的EDI和BuySell系统自2013年投入使用至今，已经积累了沉重的技术债。底层WebMethods 9.12缺乏对现代高并发和容器化的支持，导致业务高峰期数据延迟严重。BuySell系统基于老旧的.NET 3.5开发，代码高度耦合，新客户需求对接全靠硬编码，维护成本极高。更致命的是，旧版Oracle数据库面临停更风险，且非结构化的数据无法为AI分析提供底座；同时，老旧架构的安全漏洞也让我们在面对欧美头部车厂严苛的GDPR审计时处于劣势。这些问题已经直接阻碍了公司的国际化步伐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面对这些痛点，我们的升级不仅是换个新版本，而是彻底的系统重构。核心要点有三个：一是将WebMethods升级到10.15并适配Oracle 19c，实现数据收发与业务逻辑的彻底解耦；二是BuySell系统全面转向SoybeanAdmin与.NET 8.0架构，用微服务设计支撑未来几年的业务爆发；三是战略定位的转变，新系统将从单纯的‘数据搬运工具’进化为‘全球供应链协同枢纽’，主动赋能公司的国际化与智能化运营。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明确了目标之后，接下来我们进入第二部分，详细拆解这次升级的技术架构与重构方案，看看我们是如何通过引入前沿技术栈来构建现代化基座的。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首先是EDI核心引擎的升级。中间件方面，我们用WebMethods 10.15全面替换了9.12旧版，它原生支持高并发和容器化部署，并且实现了通信引擎与业务逻辑的物理隔离，大幅降低了单点故障风险。数据库方面，我们升级到了Oracle 19c长期支持版本，不仅获得了自动索引优化和多租户架构支持，解决了高峰期的性能瓶颈，更重要的是它原生支持JSON存储，这为我们后续沉淀高质量数据资产、训练AI模型打下了坚实的底座。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其次是BuySell业务平台的重构。我们彻底抛弃了臃肿的WebForm模式。前端采用基于Vue3和TypeScript的SoybeanAdmin框架，支持暗黑模式和多语言，让CS和采购同事的操作体验大幅提升，异常排查也更直观。后端则全面转向.NET 8.0 WebAPI，支持AOT编译和跨平台部署，系统响应速度有了数量级的提升。最关键的是，我们采用了RESTful API和配置化映射引擎，未来接入国际新客户，不需要改核心代码，只需配置规则，上线周期大幅缩短。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技术架构升级的最终目的是服务于业务。接下来我们进入第三部分，用具体的数据来量化这次升级带来的改善效益，并探讨它如何深度对齐公司的国际化战略。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请看这张效益对比表。在人员作业时长上，自动化报警和可视化看板让单笔异常处理从30分钟缩短到了5分钟以内，极大释放了CS和采购的人力。故障处理方面，统一日志中心让MTTR从4小时压缩到了1小时以内，保障了国际业务24小时不间断。IT开发周期得益于WebAPI的模块化，新客户标准接口对接从过去的4到6周缩短到了1到2周。最重要的是数据处理效能，Oracle 19c的内存优化让吞吐量提升了300%以上，完全能够支撑未来几年的数据高速增长。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除了眼前的效率提升，新系统更深度对齐了公司的长期战略。首先是全球化拓展，配置化映射引擎让我们对接Tesla、Ford等国际头部车厂的上线周期缩短了70%，无需改动核心代码。其次是安全合规，全面支持TLS 1.3和OAuth2.0认证，修复了旧版漏洞，确保我们能顺利通过欧美客户严苛的GDPR审计。最后是AI智能化，我们将非结构化的EDI数据清洗为标准JSON格式，这为未来导入AI智能客服和供应链缺货预测模型，提供了最宝贵的高质量数据资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再好的技术方案也需要优秀的组织协同来落地。最后我们进入第四部分，看看IT、CS和采购部门是如何协同作战的，以及Q4的冲刺规划。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次专案打破了IT部门单打独斗的传统。IT部门分为WebMethods升级和BuySell重构两个攻坚组，负责底层架构与接口开发。CS部门不仅提供旧系统痛点反馈，还主导了新系统UAT测试，并重新定义了客户异常处理SOP，确保看板符合一线习惯。采购部门则梳理了供应商EDI规范，验证了PO和ASN转换的准确性，并评估了供应链透明度的提升价值。这种业务全程参与的模式，确保了新系统不仅技术先进，而且真正懂业务、好落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汇报一下目前的进度。Q3我们已经完成了新环境搭建、Oracle 19c数据迁移验证，.NET 8.0核心API开发完成了80%，WebMethods 10.15也启动了并行测试。Q4是我们的冲刺期，重点有三项：第一是完成CS和采购部门的全面UAT测试与培训；第二是执行生产环境的平稳切换（Cutover），我们要确保双十一和年底旺季期间系统坚如磐石；第三是启动AI数据准备阶段，梳理历史异常数据标签，为明年的智能化应用做好储备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总结来说，EDI BuySell新系统升级专案不仅是一次技术的焕新，更是公司供应链数字化的基石。通过现代化架构，IT部门将实现从被动响应到主动赋能的转变，全力支持公司国际业务的无缝扩张。以上就是我今天的汇报，感谢各位的聆听，欢迎大家提问和交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0"/>
          </a:blip>
          <a:srcRect l="0" r="0" t="0" b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name="AutoShape 3" id="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name="TextBox 4" id="4"/>
          <p:cNvSpPr txBox="true"/>
          <p:nvPr/>
        </p:nvSpPr>
        <p:spPr>
          <a:xfrm flipH="false" flipV="false" rot="0">
            <a:off x="1518783" y="2750939"/>
            <a:ext cx="9151385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true" wrap="none" lIns="0" rIns="0" tIns="0" bIns="0" vert="horz"/>
          <a:lstStyle/>
          <a:p>
            <a:pPr algn="ctr">
              <a:defRPr/>
            </a:pPr>
            <a:r>
              <a:rPr lang="en-US" b="true" i="false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2026 Q3 IT 工作報告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 flipH="false" flipV="false" rot="0">
            <a:off x="1915236" y="3771900"/>
            <a:ext cx="8358478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rtlCol="false" anchorCtr="true" wrap="none" lIns="0" rIns="0" tIns="0" bIns="0" vert="horz"/>
          <a:lstStyle/>
          <a:p>
            <a:pPr algn="ctr">
              <a:defRPr/>
            </a:pPr>
            <a:r>
              <a:rPr lang="en-US" b="false" i="false" strike="noStrike" sz="1600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EDI BuySell 新系統升級專案與數位轉型戰略匯報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 l="0" r="0" t="0" b="0"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2581424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Contents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2952899"/>
            <a:ext cx="4507323" cy="6000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4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匯報目錄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 flipH="false" flipV="false" rot="0">
            <a:off x="457086" y="3825329"/>
            <a:ext cx="4507323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EDI BuySell 新系統升級專案全覽，涵蓋背景、技術、效益與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規劃四大維度。</a:t>
            </a:r>
            <a:endParaRPr/>
          </a:p>
        </p:txBody>
      </p:sp>
      <p:sp>
        <p:nvSpPr>
          <p:cNvPr name="AutoShape 6" id="6"/>
          <p:cNvSpPr/>
          <p:nvPr/>
        </p:nvSpPr>
        <p:spPr>
          <a:xfrm flipH="false" flipV="false" rot="0">
            <a:off x="5421494" y="173161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7" id="7"/>
          <p:cNvSpPr txBox="true"/>
          <p:nvPr/>
        </p:nvSpPr>
        <p:spPr>
          <a:xfrm flipH="false" flipV="false" rot="0">
            <a:off x="5421494" y="136966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 flipH="false" flipV="false" rot="0">
            <a:off x="5840490" y="130299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項目背景與核心要點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flipH="false" flipV="false" rot="0">
            <a:off x="5421494" y="3015555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0" id="10"/>
          <p:cNvSpPr txBox="true"/>
          <p:nvPr/>
        </p:nvSpPr>
        <p:spPr>
          <a:xfrm flipH="false" flipV="false" rot="0">
            <a:off x="5421494" y="265360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 flipH="false" flipV="false" rot="0">
            <a:off x="5840490" y="2586930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技術架構與重構方案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flipH="false" flipV="false" rot="0">
            <a:off x="5421494" y="429949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3" id="13"/>
          <p:cNvSpPr txBox="true"/>
          <p:nvPr/>
        </p:nvSpPr>
        <p:spPr>
          <a:xfrm flipH="false" flipV="false" rot="0">
            <a:off x="5421494" y="393754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 flipH="false" flipV="false" rot="0">
            <a:off x="5840490" y="387087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改善效益與戰略價值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flipH="false" flipV="false" rot="0">
            <a:off x="5421494" y="558343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6" id="16"/>
          <p:cNvSpPr txBox="true"/>
          <p:nvPr/>
        </p:nvSpPr>
        <p:spPr>
          <a:xfrm flipH="false" flipV="false" rot="0">
            <a:off x="5421494" y="522148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 flipH="false" flipV="false" rot="0">
            <a:off x="5840490" y="515481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跨部門協同與後續規劃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0"/>
          </a:blip>
          <a:srcRect l="0" r="0" t="0" b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name="AutoShape 3" id="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name="TextBox 4" id="4"/>
          <p:cNvSpPr txBox="true"/>
          <p:nvPr/>
        </p:nvSpPr>
        <p:spPr>
          <a:xfrm flipH="false" flipV="false" rot="0">
            <a:off x="5638283" y="254377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F1F3F5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01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 flipH="false" flipV="false" rot="0">
            <a:off x="1560073" y="2977158"/>
            <a:ext cx="90688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true" wrap="none" lIns="0" rIns="0" tIns="0" bIns="0" vert="horz"/>
          <a:lstStyle/>
          <a:p>
            <a:pPr algn="ctr">
              <a:defRPr/>
            </a:pPr>
            <a:r>
              <a:rPr lang="en-US" b="true" i="false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項目背景與核心要點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 flipH="false" flipV="false" rot="0">
            <a:off x="1999750" y="3998119"/>
            <a:ext cx="8189451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rtlCol="false" anchorCtr="true" wrap="none" lIns="0" rIns="0" tIns="0" bIns="0" vert="horz"/>
          <a:lstStyle/>
          <a:p>
            <a:pPr algn="ctr">
              <a:defRPr/>
            </a:pPr>
            <a:r>
              <a:rPr lang="en-US" b="false" i="false" strike="noStrike" sz="1600">
                <a:ln/>
                <a:solidFill>
                  <a:srgbClr val="F1F3F5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破解十三年技術債，重塑全球供應鏈協同樞紐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TECHNICAL DEBT ANALYSIS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現有系統痛點與技術債分析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3335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運行13年的EDI與BuySell系統已成為制約公司國際化擴張的瓶頸。老舊的.NET 3.5與WebMethods 9.12架構不僅導致維護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成本高昂、安全漏洞頻發，更無法支撐日益增長的全球數據吞吐需求，系統現代化升級迫在眉睫。</a:t>
            </a:r>
            <a:endParaRPr/>
          </a:p>
        </p:txBody>
      </p:sp>
      <p:sp>
        <p:nvSpPr>
          <p:cNvPr name="AutoShape 7" id="7"/>
          <p:cNvSpPr/>
          <p:nvPr/>
        </p:nvSpPr>
        <p:spPr>
          <a:xfrm flipH="false" flipV="false" rot="0">
            <a:off x="457086" y="2173486"/>
            <a:ext cx="5542164" cy="201840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8" id="8"/>
          <p:cNvSpPr/>
          <p:nvPr/>
        </p:nvSpPr>
        <p:spPr>
          <a:xfrm flipH="false" flipV="false" rot="0">
            <a:off x="457086" y="2173486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9" id="9"/>
          <p:cNvSpPr/>
          <p:nvPr/>
        </p:nvSpPr>
        <p:spPr>
          <a:xfrm flipH="false" flipV="false" rot="0">
            <a:off x="695151" y="2430661"/>
            <a:ext cx="418996" cy="419100"/>
          </a:xfrm>
          <a:custGeom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0" id="10"/>
          <p:cNvSpPr txBox="true"/>
          <p:nvPr/>
        </p:nvSpPr>
        <p:spPr>
          <a:xfrm flipH="false" flipV="false" rot="0">
            <a:off x="695151" y="2992636"/>
            <a:ext cx="506603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通信引擎版本老舊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 flipH="false" flipV="false" rot="0">
            <a:off x="695151" y="3392686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WebMethods 9.12缺乏現代RESTful API與容器化部署的原生支持，高峰期數據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延遲明顯，無法滿足全球數據吞吐需求。</a:t>
            </a:r>
            <a:endParaRPr/>
          </a:p>
        </p:txBody>
      </p:sp>
      <p:sp>
        <p:nvSpPr>
          <p:cNvPr name="AutoShape 12" id="12"/>
          <p:cNvSpPr/>
          <p:nvPr/>
        </p:nvSpPr>
        <p:spPr>
          <a:xfrm flipH="false" flipV="false" rot="0">
            <a:off x="695151" y="3973711"/>
            <a:ext cx="506603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3" id="13"/>
          <p:cNvSpPr txBox="true"/>
          <p:nvPr/>
        </p:nvSpPr>
        <p:spPr>
          <a:xfrm flipH="false" flipV="false" rot="0">
            <a:off x="695151" y="4088011"/>
            <a:ext cx="506603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WebMethods 9.12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flipH="false" flipV="false" rot="0">
            <a:off x="6189702" y="2173486"/>
            <a:ext cx="5542164" cy="201840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5" id="15"/>
          <p:cNvSpPr/>
          <p:nvPr/>
        </p:nvSpPr>
        <p:spPr>
          <a:xfrm flipH="false" flipV="false" rot="0">
            <a:off x="6189702" y="2173486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6" id="16"/>
          <p:cNvSpPr/>
          <p:nvPr/>
        </p:nvSpPr>
        <p:spPr>
          <a:xfrm flipH="false" flipV="false" rot="0">
            <a:off x="6427767" y="2430661"/>
            <a:ext cx="418996" cy="419100"/>
          </a:xfrm>
          <a:custGeom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7" id="17"/>
          <p:cNvSpPr txBox="true"/>
          <p:nvPr/>
        </p:nvSpPr>
        <p:spPr>
          <a:xfrm flipH="false" flipV="false" rot="0">
            <a:off x="6427767" y="2992636"/>
            <a:ext cx="506603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前後端高度耦合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 flipH="false" flipV="false" rot="0">
            <a:off x="6427767" y="3392686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BuySell基於.NET 3.5 WebForm開發，代碼臃腫且新客戶對接硬編碼多，開發維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護成本居高不下。</a:t>
            </a:r>
            <a:endParaRPr/>
          </a:p>
        </p:txBody>
      </p:sp>
      <p:sp>
        <p:nvSpPr>
          <p:cNvPr name="AutoShape 19" id="19"/>
          <p:cNvSpPr/>
          <p:nvPr/>
        </p:nvSpPr>
        <p:spPr>
          <a:xfrm flipH="false" flipV="false" rot="0">
            <a:off x="6427767" y="3973711"/>
            <a:ext cx="506603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0" id="20"/>
          <p:cNvSpPr txBox="true"/>
          <p:nvPr/>
        </p:nvSpPr>
        <p:spPr>
          <a:xfrm flipH="false" flipV="false" rot="0">
            <a:off x="6427767" y="4088011"/>
            <a:ext cx="506603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.NET 3.5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flipH="false" flipV="false" rot="0">
            <a:off x="457086" y="4382393"/>
            <a:ext cx="5542164" cy="201840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2" id="22"/>
          <p:cNvSpPr/>
          <p:nvPr/>
        </p:nvSpPr>
        <p:spPr>
          <a:xfrm flipH="false" flipV="false" rot="0">
            <a:off x="457086" y="4382393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3" id="23"/>
          <p:cNvSpPr/>
          <p:nvPr/>
        </p:nvSpPr>
        <p:spPr>
          <a:xfrm flipH="false" flipV="false" rot="0">
            <a:off x="695151" y="4639568"/>
            <a:ext cx="418996" cy="419100"/>
          </a:xfrm>
          <a:custGeom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24" id="24"/>
          <p:cNvSpPr txBox="true"/>
          <p:nvPr/>
        </p:nvSpPr>
        <p:spPr>
          <a:xfrm flipH="false" flipV="false" rot="0">
            <a:off x="695151" y="5201543"/>
            <a:ext cx="506603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數據庫性能瓶頸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 flipH="false" flipV="false" rot="0">
            <a:off x="695151" y="5601593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舊版Oracle面臨停維風險，數據結構化程度低，無法為AI智能分析與預測提供高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質量數據底座。</a:t>
            </a:r>
            <a:endParaRPr/>
          </a:p>
        </p:txBody>
      </p:sp>
      <p:sp>
        <p:nvSpPr>
          <p:cNvPr name="AutoShape 26" id="26"/>
          <p:cNvSpPr/>
          <p:nvPr/>
        </p:nvSpPr>
        <p:spPr>
          <a:xfrm flipH="false" flipV="false" rot="0">
            <a:off x="695151" y="6182618"/>
            <a:ext cx="506603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7" id="27"/>
          <p:cNvSpPr txBox="true"/>
          <p:nvPr/>
        </p:nvSpPr>
        <p:spPr>
          <a:xfrm flipH="false" flipV="false" rot="0">
            <a:off x="695151" y="6296918"/>
            <a:ext cx="506603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Oracle Legacy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flipH="false" flipV="false" rot="0">
            <a:off x="6189702" y="4382393"/>
            <a:ext cx="5542164" cy="201840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9" id="29"/>
          <p:cNvSpPr/>
          <p:nvPr/>
        </p:nvSpPr>
        <p:spPr>
          <a:xfrm flipH="false" flipV="false" rot="0">
            <a:off x="6189702" y="4382393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30" id="30"/>
          <p:cNvSpPr/>
          <p:nvPr/>
        </p:nvSpPr>
        <p:spPr>
          <a:xfrm flipH="false" flipV="false" rot="0">
            <a:off x="6427767" y="4639568"/>
            <a:ext cx="418996" cy="419100"/>
          </a:xfrm>
          <a:custGeom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1" id="31"/>
          <p:cNvSpPr txBox="true"/>
          <p:nvPr/>
        </p:nvSpPr>
        <p:spPr>
          <a:xfrm flipH="false" flipV="false" rot="0">
            <a:off x="6427767" y="5201543"/>
            <a:ext cx="506603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安全合規障礙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 flipH="false" flipV="false" rot="0">
            <a:off x="6427767" y="5601593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現有架構難以通過歐美車廠GDPR及信息安全審計，直接阻礙海外頭部客戶拓展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與全球化佈局。</a:t>
            </a:r>
            <a:endParaRPr/>
          </a:p>
        </p:txBody>
      </p:sp>
      <p:sp>
        <p:nvSpPr>
          <p:cNvPr name="AutoShape 33" id="33"/>
          <p:cNvSpPr/>
          <p:nvPr/>
        </p:nvSpPr>
        <p:spPr>
          <a:xfrm flipH="false" flipV="false" rot="0">
            <a:off x="6427767" y="6182618"/>
            <a:ext cx="506603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34" id="34"/>
          <p:cNvSpPr txBox="true"/>
          <p:nvPr/>
        </p:nvSpPr>
        <p:spPr>
          <a:xfrm flipH="false" flipV="false" rot="0">
            <a:off x="6427767" y="6296918"/>
            <a:ext cx="506603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GDPR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STRATEGIC UPGRADE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升級核心要點與數位轉型願景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本次升級不僅是底層技術的迭代，更是IT部門從「被動支撐」向「主動賦能」的戰略轉型。通過全面重構EDI與BuySell系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統，我們將打造一個具備高擴展性、高安全性及AI賦能潛力的全球供應鏈協同樞紐。</a:t>
            </a:r>
            <a:endParaRPr/>
          </a:p>
        </p:txBody>
      </p:sp>
      <p:sp>
        <p:nvSpPr>
          <p:cNvPr name="AutoShape 7" id="7"/>
          <p:cNvSpPr/>
          <p:nvPr/>
        </p:nvSpPr>
        <p:spPr>
          <a:xfrm flipH="false" flipV="false" rot="0">
            <a:off x="605282" y="2544515"/>
            <a:ext cx="209498" cy="209550"/>
          </a:xfrm>
          <a:custGeom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8" id="8"/>
          <p:cNvSpPr txBox="true"/>
          <p:nvPr/>
        </p:nvSpPr>
        <p:spPr>
          <a:xfrm flipH="false" flipV="false" rot="0">
            <a:off x="905839" y="2492127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核心引擎躍升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 flipH="false" flipV="false" rot="0">
            <a:off x="2144672" y="2530227"/>
            <a:ext cx="46705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v10.15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 flipH="false" flipV="false" rot="0">
            <a:off x="905839" y="2820740"/>
            <a:ext cx="577904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將WebMethods升級至10.15並適配Oracle 19c，徹底消除13年技術債，實現數據收發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與業務邏輯的徹底解耦</a:t>
            </a:r>
            <a:endParaRPr/>
          </a:p>
        </p:txBody>
      </p:sp>
      <p:sp>
        <p:nvSpPr>
          <p:cNvPr name="AutoShape 11" id="11"/>
          <p:cNvSpPr/>
          <p:nvPr/>
        </p:nvSpPr>
        <p:spPr>
          <a:xfrm flipH="false" flipV="false" rot="0">
            <a:off x="605282" y="3979069"/>
            <a:ext cx="209498" cy="209550"/>
          </a:xfrm>
          <a:custGeom>
            <a:rect l="l" t="t" r="r" b="b"/>
            <a:pathLst>
              <a:path w="9998" h="10000">
                <a:moveTo>
                  <a:pt x="4999" y="8990"/>
                </a:moveTo>
                <a:lnTo>
                  <a:pt x="9246" y="6676"/>
                </a:lnTo>
                <a:lnTo>
                  <a:pt x="9877" y="7019"/>
                </a:lnTo>
                <a:cubicBezTo>
                  <a:pt x="9940" y="7057"/>
                  <a:pt x="9980" y="7107"/>
                  <a:pt x="9998" y="7171"/>
                </a:cubicBezTo>
                <a:cubicBezTo>
                  <a:pt x="10015" y="7235"/>
                  <a:pt x="10006" y="7295"/>
                  <a:pt x="9972" y="7352"/>
                </a:cubicBezTo>
                <a:cubicBezTo>
                  <a:pt x="9950" y="7384"/>
                  <a:pt x="9919" y="7409"/>
                  <a:pt x="9877" y="7429"/>
                </a:cubicBezTo>
                <a:lnTo>
                  <a:pt x="5272" y="9933"/>
                </a:lnTo>
                <a:cubicBezTo>
                  <a:pt x="5188" y="9977"/>
                  <a:pt x="5097" y="10000"/>
                  <a:pt x="4999" y="10000"/>
                </a:cubicBezTo>
                <a:cubicBezTo>
                  <a:pt x="4901" y="10000"/>
                  <a:pt x="4810" y="9977"/>
                  <a:pt x="4726" y="9933"/>
                </a:cubicBezTo>
                <a:lnTo>
                  <a:pt x="121" y="7429"/>
                </a:lnTo>
                <a:cubicBezTo>
                  <a:pt x="57" y="7397"/>
                  <a:pt x="17" y="7349"/>
                  <a:pt x="0" y="7286"/>
                </a:cubicBezTo>
                <a:cubicBezTo>
                  <a:pt x="-17" y="7222"/>
                  <a:pt x="-8" y="7161"/>
                  <a:pt x="26" y="7105"/>
                </a:cubicBezTo>
                <a:cubicBezTo>
                  <a:pt x="47" y="7073"/>
                  <a:pt x="79" y="7044"/>
                  <a:pt x="121" y="7019"/>
                </a:cubicBezTo>
                <a:lnTo>
                  <a:pt x="752" y="6676"/>
                </a:lnTo>
                <a:lnTo>
                  <a:pt x="4999" y="8990"/>
                </a:lnTo>
                <a:moveTo>
                  <a:pt x="4999" y="6752"/>
                </a:moveTo>
                <a:lnTo>
                  <a:pt x="9246" y="4438"/>
                </a:lnTo>
                <a:lnTo>
                  <a:pt x="9877" y="4781"/>
                </a:lnTo>
                <a:cubicBezTo>
                  <a:pt x="9940" y="4819"/>
                  <a:pt x="9980" y="4869"/>
                  <a:pt x="9998" y="4933"/>
                </a:cubicBezTo>
                <a:cubicBezTo>
                  <a:pt x="10015" y="4997"/>
                  <a:pt x="10006" y="5057"/>
                  <a:pt x="9972" y="5114"/>
                </a:cubicBezTo>
                <a:cubicBezTo>
                  <a:pt x="9950" y="5146"/>
                  <a:pt x="9919" y="5171"/>
                  <a:pt x="9877" y="5190"/>
                </a:cubicBezTo>
                <a:lnTo>
                  <a:pt x="4999" y="7848"/>
                </a:lnTo>
                <a:lnTo>
                  <a:pt x="121" y="5190"/>
                </a:lnTo>
                <a:cubicBezTo>
                  <a:pt x="57" y="5158"/>
                  <a:pt x="17" y="5111"/>
                  <a:pt x="0" y="5048"/>
                </a:cubicBezTo>
                <a:cubicBezTo>
                  <a:pt x="-17" y="4984"/>
                  <a:pt x="-8" y="4923"/>
                  <a:pt x="26" y="4867"/>
                </a:cubicBezTo>
                <a:cubicBezTo>
                  <a:pt x="47" y="4835"/>
                  <a:pt x="79" y="4806"/>
                  <a:pt x="121" y="4781"/>
                </a:cubicBezTo>
                <a:lnTo>
                  <a:pt x="752" y="4438"/>
                </a:lnTo>
                <a:lnTo>
                  <a:pt x="4999" y="6752"/>
                </a:lnTo>
                <a:moveTo>
                  <a:pt x="5272" y="67"/>
                </a:moveTo>
                <a:lnTo>
                  <a:pt x="9877" y="2571"/>
                </a:lnTo>
                <a:cubicBezTo>
                  <a:pt x="9940" y="2603"/>
                  <a:pt x="9980" y="2650"/>
                  <a:pt x="9998" y="2714"/>
                </a:cubicBezTo>
                <a:cubicBezTo>
                  <a:pt x="10015" y="2778"/>
                  <a:pt x="10006" y="2838"/>
                  <a:pt x="9972" y="2895"/>
                </a:cubicBezTo>
                <a:cubicBezTo>
                  <a:pt x="9950" y="2927"/>
                  <a:pt x="9919" y="2955"/>
                  <a:pt x="9877" y="2981"/>
                </a:cubicBezTo>
                <a:lnTo>
                  <a:pt x="4999" y="5629"/>
                </a:lnTo>
                <a:lnTo>
                  <a:pt x="121" y="2981"/>
                </a:lnTo>
                <a:cubicBezTo>
                  <a:pt x="57" y="2943"/>
                  <a:pt x="17" y="2892"/>
                  <a:pt x="0" y="2829"/>
                </a:cubicBezTo>
                <a:cubicBezTo>
                  <a:pt x="-17" y="2765"/>
                  <a:pt x="-8" y="2704"/>
                  <a:pt x="26" y="2648"/>
                </a:cubicBezTo>
                <a:cubicBezTo>
                  <a:pt x="47" y="2616"/>
                  <a:pt x="79" y="2590"/>
                  <a:pt x="121" y="2571"/>
                </a:cubicBezTo>
                <a:lnTo>
                  <a:pt x="4726" y="67"/>
                </a:lnTo>
                <a:cubicBezTo>
                  <a:pt x="4810" y="22"/>
                  <a:pt x="4901" y="0"/>
                  <a:pt x="4999" y="0"/>
                </a:cubicBezTo>
                <a:cubicBezTo>
                  <a:pt x="5097" y="0"/>
                  <a:pt x="5188" y="22"/>
                  <a:pt x="5272" y="67"/>
                </a:cubicBezTo>
                <a:moveTo>
                  <a:pt x="8216" y="2771"/>
                </a:moveTo>
                <a:lnTo>
                  <a:pt x="4999" y="1029"/>
                </a:lnTo>
                <a:lnTo>
                  <a:pt x="1782" y="2771"/>
                </a:lnTo>
                <a:lnTo>
                  <a:pt x="4999" y="4524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2" id="12"/>
          <p:cNvSpPr txBox="true"/>
          <p:nvPr/>
        </p:nvSpPr>
        <p:spPr>
          <a:xfrm flipH="false" flipV="false" rot="0">
            <a:off x="905839" y="3926681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業務平台重構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 flipH="false" flipV="false" rot="0">
            <a:off x="2144672" y="3964781"/>
            <a:ext cx="59918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.NET 8.0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 flipH="false" flipV="false" rot="0">
            <a:off x="905839" y="4255294"/>
            <a:ext cx="577904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BuySell系統全面轉向SoybeanAdmin與.NET 8.0 WebAPI架構，以微服務化設計支撐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未來3至5年的業務爆發式增長</a:t>
            </a:r>
            <a:endParaRPr/>
          </a:p>
        </p:txBody>
      </p:sp>
      <p:sp>
        <p:nvSpPr>
          <p:cNvPr name="AutoShape 15" id="15"/>
          <p:cNvSpPr/>
          <p:nvPr/>
        </p:nvSpPr>
        <p:spPr>
          <a:xfrm flipH="false" flipV="false" rot="0">
            <a:off x="605282" y="5413623"/>
            <a:ext cx="209498" cy="209550"/>
          </a:xfrm>
          <a:custGeom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3999" y="4000"/>
                </a:moveTo>
                <a:lnTo>
                  <a:pt x="7249" y="2750"/>
                </a:lnTo>
                <a:lnTo>
                  <a:pt x="5999" y="6000"/>
                </a:lnTo>
                <a:lnTo>
                  <a:pt x="2749" y="7250"/>
                </a:lnTo>
                <a:lnTo>
                  <a:pt x="3999" y="4000"/>
                </a:lnTo>
                <a:moveTo>
                  <a:pt x="4999" y="5500"/>
                </a:moveTo>
                <a:cubicBezTo>
                  <a:pt x="5139" y="5500"/>
                  <a:pt x="5257" y="5451"/>
                  <a:pt x="5354" y="5355"/>
                </a:cubicBezTo>
                <a:cubicBezTo>
                  <a:pt x="5450" y="5258"/>
                  <a:pt x="5499" y="5140"/>
                  <a:pt x="5499" y="5000"/>
                </a:cubicBezTo>
                <a:cubicBezTo>
                  <a:pt x="5499" y="4860"/>
                  <a:pt x="5450" y="4741"/>
                  <a:pt x="5354" y="4645"/>
                </a:cubicBezTo>
                <a:cubicBezTo>
                  <a:pt x="5257" y="4548"/>
                  <a:pt x="5139" y="4500"/>
                  <a:pt x="4999" y="4500"/>
                </a:cubicBezTo>
                <a:cubicBezTo>
                  <a:pt x="4859" y="4500"/>
                  <a:pt x="4740" y="4548"/>
                  <a:pt x="4644" y="4645"/>
                </a:cubicBezTo>
                <a:cubicBezTo>
                  <a:pt x="4547" y="4741"/>
                  <a:pt x="4499" y="4860"/>
                  <a:pt x="4499" y="5000"/>
                </a:cubicBezTo>
                <a:cubicBezTo>
                  <a:pt x="4499" y="5140"/>
                  <a:pt x="4547" y="5258"/>
                  <a:pt x="4644" y="5355"/>
                </a:cubicBezTo>
                <a:cubicBezTo>
                  <a:pt x="4740" y="5451"/>
                  <a:pt x="4859" y="5500"/>
                  <a:pt x="4999" y="55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6" id="16"/>
          <p:cNvSpPr txBox="true"/>
          <p:nvPr/>
        </p:nvSpPr>
        <p:spPr>
          <a:xfrm flipH="false" flipV="false" rot="0">
            <a:off x="905839" y="5361235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戰略價值對齊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 flipH="false" flipV="false" rot="0">
            <a:off x="2144672" y="5399335"/>
            <a:ext cx="41929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3–5年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 flipH="false" flipV="false" rot="0">
            <a:off x="905839" y="5689848"/>
            <a:ext cx="577904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新系統從單純的「數據搬運工具」進化為「供應鏈協同樞紐」，直接支撐公司國際化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擴張、信息安全合規與AI智能化運營</a:t>
            </a: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100000"/>
          </a:blip>
          <a:srcRect l="0" r="0" t="0" b="0"/>
          <a:stretch>
            <a:fillRect/>
          </a:stretch>
        </p:blipFill>
        <p:spPr>
          <a:xfrm flipH="false" flipV="false" rot="0">
            <a:off x="7161009" y="2211586"/>
            <a:ext cx="4570857" cy="3657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name="TextBox 20" id="20"/>
          <p:cNvSpPr txBox="true"/>
          <p:nvPr/>
        </p:nvSpPr>
        <p:spPr>
          <a:xfrm flipH="false" flipV="false" rot="0">
            <a:off x="7161009" y="5964436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現代化數據中心基礎設施環境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0"/>
          </a:blip>
          <a:srcRect l="0" r="0" t="0" b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name="AutoShape 3" id="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8039"/>
            </a:srgbClr>
          </a:solidFill>
          <a:ln>
            <a:headEnd type="none"/>
            <a:tailEnd type="none"/>
          </a:ln>
        </p:spPr>
      </p:sp>
      <p:sp>
        <p:nvSpPr>
          <p:cNvPr name="TextBox 4" id="4"/>
          <p:cNvSpPr txBox="true"/>
          <p:nvPr/>
        </p:nvSpPr>
        <p:spPr>
          <a:xfrm flipH="false" flipV="false" rot="0">
            <a:off x="5603169" y="2536627"/>
            <a:ext cx="658578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F1F3F5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02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 flipH="false" flipV="false" rot="0">
            <a:off x="1544673" y="2984302"/>
            <a:ext cx="90996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true" wrap="none" lIns="0" rIns="0" tIns="0" bIns="0" vert="horz"/>
          <a:lstStyle/>
          <a:p>
            <a:pPr algn="ctr">
              <a:defRPr/>
            </a:pPr>
            <a:r>
              <a:rPr lang="en-US" b="true" i="false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技術架構與重構方案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 flipH="false" flipV="false" rot="0">
            <a:off x="1842626" y="4005262"/>
            <a:ext cx="8503699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rtlCol="false" anchorCtr="true" wrap="none" lIns="0" rIns="0" tIns="0" bIns="0" vert="horz"/>
          <a:lstStyle/>
          <a:p>
            <a:pPr algn="ctr">
              <a:defRPr/>
            </a:pPr>
            <a:r>
              <a:rPr lang="en-US" b="false" i="false" strike="noStrike" sz="16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引入前沿技術棧，構建高性能與高可用的現代化基座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Infrastructure Upgrade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EDI核心引擎升級：WebMethods與Oracle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EDI底層引擎的升級聚焦於高吞吐與高可用。通過引入WebMethods 10.15與Oracle 19c，我們大幅提升了數據處理的併發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能力與存儲效率，為全球化業務的不間斷運行提供了堅實的底層技術保障。</a:t>
            </a:r>
            <a:endParaRPr/>
          </a:p>
        </p:txBody>
      </p:sp>
      <p:sp>
        <p:nvSpPr>
          <p:cNvPr name="AutoShape 7" id="7"/>
          <p:cNvSpPr/>
          <p:nvPr/>
        </p:nvSpPr>
        <p:spPr>
          <a:xfrm flipH="false" flipV="false" rot="0">
            <a:off x="457086" y="2287786"/>
            <a:ext cx="5504073" cy="4113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8" id="8"/>
          <p:cNvSpPr/>
          <p:nvPr/>
        </p:nvSpPr>
        <p:spPr>
          <a:xfrm flipH="false" flipV="false" rot="0">
            <a:off x="457086" y="2287786"/>
            <a:ext cx="550407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9" id="9"/>
          <p:cNvSpPr/>
          <p:nvPr/>
        </p:nvSpPr>
        <p:spPr>
          <a:xfrm flipH="false" flipV="false" rot="0">
            <a:off x="695151" y="2583061"/>
            <a:ext cx="418996" cy="419100"/>
          </a:xfrm>
          <a:custGeom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0" id="10"/>
          <p:cNvSpPr txBox="true"/>
          <p:nvPr/>
        </p:nvSpPr>
        <p:spPr>
          <a:xfrm flipH="false" flipV="false" rot="0">
            <a:off x="695151" y="3183136"/>
            <a:ext cx="502794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WebMethods 10.15 中間件升級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 flipH="false" flipV="false" rot="0">
            <a:off x="695151" y="367843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 flipH="false" flipV="false" rot="0">
            <a:off x="928158" y="3697486"/>
            <a:ext cx="479493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全面替換9.12舊版，原生支持高併發處理與容器化部署，完美適配現代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REST適配器與AS2/SFTP等多元通信協議</a:t>
            </a:r>
            <a:endParaRPr/>
          </a:p>
        </p:txBody>
      </p:sp>
      <p:sp>
        <p:nvSpPr>
          <p:cNvPr name="TextBox 13" id="13"/>
          <p:cNvSpPr txBox="true"/>
          <p:nvPr/>
        </p:nvSpPr>
        <p:spPr>
          <a:xfrm flipH="false" flipV="false" rot="0">
            <a:off x="695151" y="432970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 flipH="false" flipV="false" rot="0">
            <a:off x="928158" y="4348758"/>
            <a:ext cx="479493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實現通信引擎與業務邏輯的物理隔離，使WebMethods專注高吞吐數據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收發，大幅降低系統耦合度與單點故障風險</a:t>
            </a:r>
            <a:endParaRPr/>
          </a:p>
        </p:txBody>
      </p:sp>
      <p:sp>
        <p:nvSpPr>
          <p:cNvPr name="AutoShape 15" id="15"/>
          <p:cNvSpPr/>
          <p:nvPr/>
        </p:nvSpPr>
        <p:spPr>
          <a:xfrm flipH="false" flipV="false" rot="0">
            <a:off x="695151" y="5709345"/>
            <a:ext cx="502794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6" id="16"/>
          <p:cNvSpPr txBox="true"/>
          <p:nvPr/>
        </p:nvSpPr>
        <p:spPr>
          <a:xfrm flipH="false" flipV="false" rot="0">
            <a:off x="695151" y="5842695"/>
            <a:ext cx="502794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REST · AS2 · SFTP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flipH="false" flipV="false" rot="0">
            <a:off x="6227793" y="2287786"/>
            <a:ext cx="5504073" cy="4113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8" id="18"/>
          <p:cNvSpPr/>
          <p:nvPr/>
        </p:nvSpPr>
        <p:spPr>
          <a:xfrm flipH="false" flipV="false" rot="0">
            <a:off x="6227793" y="2287786"/>
            <a:ext cx="550407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9" id="19"/>
          <p:cNvSpPr/>
          <p:nvPr/>
        </p:nvSpPr>
        <p:spPr>
          <a:xfrm flipH="false" flipV="false" rot="0">
            <a:off x="6465858" y="2583061"/>
            <a:ext cx="418996" cy="419100"/>
          </a:xfrm>
          <a:custGeom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20" id="20"/>
          <p:cNvSpPr txBox="true"/>
          <p:nvPr/>
        </p:nvSpPr>
        <p:spPr>
          <a:xfrm flipH="false" flipV="false" rot="0">
            <a:off x="6465858" y="3183136"/>
            <a:ext cx="502794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Oracle 19c 數據庫底座煥新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 flipH="false" flipV="false" rot="0">
            <a:off x="6465858" y="367843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 flipH="false" flipV="false" rot="0">
            <a:off x="6698865" y="3697486"/>
            <a:ext cx="4826182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升級至長期支持版本(LTS)，獲得自動索引優化與多租戶架構支持，徹底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解決舊版數據庫在業務高峰期的性能瓶頸</a:t>
            </a:r>
            <a:endParaRPr/>
          </a:p>
        </p:txBody>
      </p:sp>
      <p:sp>
        <p:nvSpPr>
          <p:cNvPr name="TextBox 23" id="23"/>
          <p:cNvSpPr txBox="true"/>
          <p:nvPr/>
        </p:nvSpPr>
        <p:spPr>
          <a:xfrm flipH="false" flipV="false" rot="0">
            <a:off x="6465858" y="432970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 flipH="false" flipV="false" rot="0">
            <a:off x="6698865" y="4348758"/>
            <a:ext cx="479493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原生支持JSON數據格式存儲，為後續BuySell系統的數據標準化及AI模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型訓練提供結構化、高質量的底層數據資產</a:t>
            </a:r>
            <a:endParaRPr/>
          </a:p>
        </p:txBody>
      </p:sp>
      <p:sp>
        <p:nvSpPr>
          <p:cNvPr name="AutoShape 25" id="25"/>
          <p:cNvSpPr/>
          <p:nvPr/>
        </p:nvSpPr>
        <p:spPr>
          <a:xfrm flipH="false" flipV="false" rot="0">
            <a:off x="6465858" y="5709345"/>
            <a:ext cx="502794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6" id="26"/>
          <p:cNvSpPr txBox="true"/>
          <p:nvPr/>
        </p:nvSpPr>
        <p:spPr>
          <a:xfrm flipH="false" flipV="false" rot="0">
            <a:off x="6465858" y="5842695"/>
            <a:ext cx="502794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19c LTS · JSON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SYSTEM ARCHITECTURE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BuySell業務平台重構：前後端分離架構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BuySell平台的重構徹底拋棄了臃腫的WebForm模式，採用現代化的前後端分離架構。這不僅極大提升了內部用戶的操作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體驗，更通過模塊化API設計，將新客戶的接入週期從數週縮短至幾天。</a:t>
            </a:r>
            <a:endParaRPr/>
          </a:p>
        </p:txBody>
      </p:sp>
      <p:sp>
        <p:nvSpPr>
          <p:cNvPr name="AutoShape 7" id="7"/>
          <p:cNvSpPr/>
          <p:nvPr/>
        </p:nvSpPr>
        <p:spPr>
          <a:xfrm flipH="false" flipV="false" rot="0">
            <a:off x="457086" y="2249686"/>
            <a:ext cx="5504073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8" id="8"/>
          <p:cNvSpPr/>
          <p:nvPr/>
        </p:nvSpPr>
        <p:spPr>
          <a:xfrm flipH="false" flipV="false" rot="0">
            <a:off x="457086" y="2249686"/>
            <a:ext cx="550407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9" id="9"/>
          <p:cNvSpPr/>
          <p:nvPr/>
        </p:nvSpPr>
        <p:spPr>
          <a:xfrm flipH="false" flipV="false" rot="0">
            <a:off x="661302" y="2544961"/>
            <a:ext cx="304724" cy="304800"/>
          </a:xfrm>
          <a:custGeom>
            <a:rect l="l" t="t" r="r" b="b"/>
            <a:pathLst>
              <a:path w="9998" h="10000">
                <a:moveTo>
                  <a:pt x="9498" y="10000"/>
                </a:move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moveTo>
                  <a:pt x="2500" y="8889"/>
                </a:moveTo>
                <a:lnTo>
                  <a:pt x="2500" y="3889"/>
                </a:lnTo>
                <a:lnTo>
                  <a:pt x="1000" y="3889"/>
                </a:lnTo>
                <a:lnTo>
                  <a:pt x="1000" y="8889"/>
                </a:lnTo>
                <a:lnTo>
                  <a:pt x="2500" y="8889"/>
                </a:lnTo>
                <a:moveTo>
                  <a:pt x="8998" y="8889"/>
                </a:moveTo>
                <a:lnTo>
                  <a:pt x="8998" y="3889"/>
                </a:lnTo>
                <a:lnTo>
                  <a:pt x="3499" y="3889"/>
                </a:lnTo>
                <a:lnTo>
                  <a:pt x="3499" y="8889"/>
                </a:lnTo>
                <a:lnTo>
                  <a:pt x="8998" y="8889"/>
                </a:lnTo>
                <a:moveTo>
                  <a:pt x="8998" y="2778"/>
                </a:moveTo>
                <a:lnTo>
                  <a:pt x="8998" y="1111"/>
                </a:lnTo>
                <a:lnTo>
                  <a:pt x="1000" y="1111"/>
                </a:lnTo>
                <a:lnTo>
                  <a:pt x="1000" y="277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0" id="10"/>
          <p:cNvSpPr txBox="true"/>
          <p:nvPr/>
        </p:nvSpPr>
        <p:spPr>
          <a:xfrm flipH="false" flipV="false" rot="0">
            <a:off x="1046447" y="2567880"/>
            <a:ext cx="335836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前端體驗：SoybeanAdmin 框架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 flipH="false" flipV="false" rot="0">
            <a:off x="695151" y="341992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 flipH="false" flipV="false" rot="0">
            <a:off x="928158" y="3438972"/>
            <a:ext cx="479493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基於Vue3、TypeScript與NaiveUI構建現代化響應式界面，支持暗黑模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式與多語言切換，顯著提升CS與採購人員的日常操作體驗</a:t>
            </a:r>
            <a:endParaRPr/>
          </a:p>
        </p:txBody>
      </p:sp>
      <p:sp>
        <p:nvSpPr>
          <p:cNvPr name="TextBox 13" id="13"/>
          <p:cNvSpPr txBox="true"/>
          <p:nvPr/>
        </p:nvSpPr>
        <p:spPr>
          <a:xfrm flipH="false" flipV="false" rot="0">
            <a:off x="695151" y="4773513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 flipH="false" flipV="false" rot="0">
            <a:off x="928158" y="4792563"/>
            <a:ext cx="479493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廢棄舊版頁面回傳機制，採用異步數據加載與可視化看板設計，使異常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數據排查與訂單狀態追蹤更加直觀高效</a:t>
            </a:r>
            <a:endParaRPr/>
          </a:p>
        </p:txBody>
      </p:sp>
      <p:sp>
        <p:nvSpPr>
          <p:cNvPr name="AutoShape 15" id="15"/>
          <p:cNvSpPr/>
          <p:nvPr/>
        </p:nvSpPr>
        <p:spPr>
          <a:xfrm flipH="false" flipV="false" rot="0">
            <a:off x="695151" y="5785545"/>
            <a:ext cx="502794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6" id="16"/>
          <p:cNvSpPr txBox="true"/>
          <p:nvPr/>
        </p:nvSpPr>
        <p:spPr>
          <a:xfrm flipH="false" flipV="false" rot="0">
            <a:off x="695151" y="5918895"/>
            <a:ext cx="502794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Vue3 + TypeScript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flipH="false" flipV="false" rot="0">
            <a:off x="6227793" y="2249686"/>
            <a:ext cx="5504073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8" id="18"/>
          <p:cNvSpPr/>
          <p:nvPr/>
        </p:nvSpPr>
        <p:spPr>
          <a:xfrm flipH="false" flipV="false" rot="0">
            <a:off x="6227793" y="2249686"/>
            <a:ext cx="550407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9" id="19"/>
          <p:cNvSpPr/>
          <p:nvPr/>
        </p:nvSpPr>
        <p:spPr>
          <a:xfrm flipH="false" flipV="false" rot="0">
            <a:off x="6432008" y="2544961"/>
            <a:ext cx="304724" cy="304800"/>
          </a:xfrm>
          <a:custGeom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20" id="20"/>
          <p:cNvSpPr txBox="true"/>
          <p:nvPr/>
        </p:nvSpPr>
        <p:spPr>
          <a:xfrm flipH="false" flipV="false" rot="0">
            <a:off x="6817153" y="2567880"/>
            <a:ext cx="300617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後端架構：.NET 8.0 WebAPI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 flipH="false" flipV="false" rot="0">
            <a:off x="6465858" y="341992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 flipH="false" flipV="false" rot="0">
            <a:off x="6698865" y="3438972"/>
            <a:ext cx="479493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採用最新.NET 8.0框架並原生支持AOT編譯，實現跨平台部署與微服務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就緒，系統響應速度與吞吐量獲得數量級提升</a:t>
            </a:r>
            <a:endParaRPr/>
          </a:p>
        </p:txBody>
      </p:sp>
      <p:sp>
        <p:nvSpPr>
          <p:cNvPr name="TextBox 23" id="23"/>
          <p:cNvSpPr txBox="true"/>
          <p:nvPr/>
        </p:nvSpPr>
        <p:spPr>
          <a:xfrm flipH="false" flipV="false" rot="0">
            <a:off x="6465858" y="4773513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 flipH="false" flipV="false" rot="0">
            <a:off x="6698865" y="4792563"/>
            <a:ext cx="4795531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全面採用RESTful API與JSON進行數據交互，實現配置化映射引擎，未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來接入國際新客戶無需修改核心代碼，僅需配置規則</a:t>
            </a:r>
            <a:endParaRPr/>
          </a:p>
        </p:txBody>
      </p:sp>
      <p:sp>
        <p:nvSpPr>
          <p:cNvPr name="AutoShape 25" id="25"/>
          <p:cNvSpPr/>
          <p:nvPr/>
        </p:nvSpPr>
        <p:spPr>
          <a:xfrm flipH="false" flipV="false" rot="0">
            <a:off x="6465858" y="5785545"/>
            <a:ext cx="502794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6" id="26"/>
          <p:cNvSpPr txBox="true"/>
          <p:nvPr/>
        </p:nvSpPr>
        <p:spPr>
          <a:xfrm flipH="false" flipV="false" rot="0">
            <a:off x="6465858" y="5918895"/>
            <a:ext cx="502794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.NET 8.0 AOT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1A1A1A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100000"/>
          </a:blip>
          <a:srcRect l="0" r="0" t="0" b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name="AutoShape 4" id="4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4901"/>
            </a:srgbClr>
          </a:solidFill>
          <a:ln>
            <a:headEnd type="none"/>
            <a:tailEnd type="none"/>
          </a:ln>
        </p:spPr>
      </p:sp>
      <p:sp>
        <p:nvSpPr>
          <p:cNvPr name="TextBox 5" id="5"/>
          <p:cNvSpPr txBox="true"/>
          <p:nvPr/>
        </p:nvSpPr>
        <p:spPr>
          <a:xfrm flipH="false" flipV="false" rot="0">
            <a:off x="5638283" y="2551360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F1F3F5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03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 flipH="false" flipV="false" rot="0">
            <a:off x="1544673" y="2984748"/>
            <a:ext cx="90996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true" wrap="none" lIns="0" rIns="0" tIns="0" bIns="0" vert="horz"/>
          <a:lstStyle/>
          <a:p>
            <a:pPr algn="ctr">
              <a:defRPr/>
            </a:pPr>
            <a:r>
              <a:rPr lang="en-US" b="true" i="false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改善效益與戰略價值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 flipH="false" flipV="false" rot="0">
            <a:off x="1847388" y="4005710"/>
            <a:ext cx="8494177" cy="31998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rtlCol="false" anchorCtr="true" wrap="none" lIns="0" rIns="0" tIns="0" bIns="0" vert="horz"/>
          <a:lstStyle/>
          <a:p>
            <a:pPr algn="ctr">
              <a:defRPr/>
            </a:pPr>
            <a:r>
              <a:rPr lang="en-US" b="false" i="false" strike="noStrike" sz="1500">
                <a:ln/>
                <a:solidFill>
                  <a:srgbClr val="F1F3F5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量化運營指標提升，深度對齊國際化與數位化雙輪驅動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EDI BuySell 新系統升級專案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核心運營指標量化改善效益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系統升級在人員效率、運維響應、開發敏捷度及數據效能四大維度實現了跨越式提升。這不僅大幅降低了IT與業務部門的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隱性成本，更為公司應對年底旺季及未來業務爆發儲備了充足的系統算力。</a:t>
            </a:r>
            <a:endParaRPr/>
          </a:p>
        </p:txBody>
      </p:sp>
      <p:sp>
        <p:nvSpPr>
          <p:cNvPr name="TextBox 7" id="7"/>
          <p:cNvSpPr txBox="true"/>
          <p:nvPr/>
        </p:nvSpPr>
        <p:spPr>
          <a:xfrm flipH="false" flipV="false" rot="0">
            <a:off x="457086" y="2202061"/>
            <a:ext cx="1127478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Q3 系統升級核心效益指標對比</a:t>
            </a:r>
            <a:endParaRPr lang="en-US" sz="1100"/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457086" y="2598241"/>
          <a:ext cx="11274781" cy="2650331"/>
        </p:xfrm>
        <a:graphic>
          <a:graphicData uri="http://schemas.openxmlformats.org/drawingml/2006/table">
            <a:tbl>
              <a:tblPr/>
              <a:tblGrid>
                <a:gridCol w="1574800"/>
                <a:gridCol w="2921000"/>
                <a:gridCol w="3149600"/>
                <a:gridCol w="3606800"/>
              </a:tblGrid>
              <a:tr h="431800"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效益維度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改善前 (As-Is)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改善後 (To-Be)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數位轉型價值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647700"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人員作業時長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依賴人工查詢與手動處理，單筆異常耗時 &gt;30 分鐘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自動化報警與可視化看板，異常處理縮減至 &lt;5 分鐘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流程自動化：釋放人力聚焦高價值服務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57200"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故障處理 (MTTR)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日誌分散排查困難，平均修復時間 &gt;4 小時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統一日誌中心與健康檢查，MTTR 目標 &lt;1 小時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運維智能化：保障國際業務 24/7 不間斷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647700"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IT 開發週期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WebForm 耦合度高，新客戶對接需 4-6 週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WebAPI 模塊化設計，標準接口開發縮短至 1-2 週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敏捷交付：快速響應國際市場拓展需求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44500"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數據處理效能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舊版數據庫瓶頸，高峰期延遲明顯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Oracle 19c 內存優化，吞吐量提升 300% 以上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rot="0" anchor="t" anchorCtr="false" wrap="square" lIns="133350" rIns="133350" tIns="114300" bIns="114300" vert="horz"/>
                    <a:p>
                      <a:pPr algn="l">
                        <a:def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數據驅動：支撐未來 3-5 年數據量高速增長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flipH="false" flipV="false" rot="0">
            <a:off x="457086" y="6072336"/>
            <a:ext cx="11274781" cy="9525"/>
          </a:xfrm>
          <a:prstGeom prst="line">
            <a:avLst/>
          </a:prstGeom>
          <a:ln w="9525">
            <a:solidFill>
              <a:srgbClr val="C5CDD6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0" id="10"/>
          <p:cNvSpPr/>
          <p:nvPr/>
        </p:nvSpPr>
        <p:spPr>
          <a:xfrm flipH="false" flipV="false" rot="0">
            <a:off x="442281" y="6220866"/>
            <a:ext cx="133317" cy="133350"/>
          </a:xfrm>
          <a:custGeom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3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3500"/>
                </a:lnTo>
                <a:lnTo>
                  <a:pt x="4499" y="3500"/>
                </a:lnTo>
                <a:moveTo>
                  <a:pt x="4499" y="7500"/>
                </a:moveTo>
                <a:lnTo>
                  <a:pt x="4499" y="4500"/>
                </a:lnTo>
                <a:lnTo>
                  <a:pt x="5499" y="4500"/>
                </a:lnTo>
                <a:lnTo>
                  <a:pt x="5499" y="7500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1" id="11"/>
          <p:cNvSpPr txBox="true"/>
          <p:nvPr/>
        </p:nvSpPr>
        <p:spPr>
          <a:xfrm flipH="false" flipV="false" rot="0">
            <a:off x="598884" y="6205686"/>
            <a:ext cx="1113298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新系統在作業效率、運維響應、開發敏捷度與數據吞吐量上實現全面躍升，直接降低隱性運營成本。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Strategic Alignment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深度對齊公司國際化與數位化戰略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3906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99925" y="14287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新系統的價值遠超IT技術範疇，它是公司落實國際化擴張與數位轉型的核心基礎設施。通過提升擴展性、強化安全合規並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沉澱數據資產，IT部門正成為驅動業務增長的戰略引擎。</a:t>
            </a:r>
            <a:endParaRPr/>
          </a:p>
        </p:txBody>
      </p:sp>
      <p:sp>
        <p:nvSpPr>
          <p:cNvPr name="AutoShape 7" id="7"/>
          <p:cNvSpPr/>
          <p:nvPr/>
        </p:nvSpPr>
        <p:spPr>
          <a:xfrm flipH="false" flipV="false" rot="0">
            <a:off x="457086" y="2306836"/>
            <a:ext cx="3605799" cy="40939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8" id="8"/>
          <p:cNvSpPr/>
          <p:nvPr/>
        </p:nvSpPr>
        <p:spPr>
          <a:xfrm flipH="false" flipV="false" rot="0">
            <a:off x="457086" y="23068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9" id="9"/>
          <p:cNvSpPr/>
          <p:nvPr/>
        </p:nvSpPr>
        <p:spPr>
          <a:xfrm flipH="false" flipV="false" rot="0">
            <a:off x="695151" y="2602111"/>
            <a:ext cx="418996" cy="419100"/>
          </a:xfrm>
          <a:custGeom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3859" y="8830"/>
                </a:moveTo>
                <a:cubicBezTo>
                  <a:pt x="3359" y="7776"/>
                  <a:pt x="3075" y="6666"/>
                  <a:pt x="3009" y="5500"/>
                </a:cubicBezTo>
                <a:lnTo>
                  <a:pt x="1030" y="5500"/>
                </a:lnTo>
                <a:cubicBezTo>
                  <a:pt x="1096" y="6020"/>
                  <a:pt x="1258" y="6506"/>
                  <a:pt x="1515" y="6960"/>
                </a:cubicBezTo>
                <a:cubicBezTo>
                  <a:pt x="1771" y="7413"/>
                  <a:pt x="2101" y="7801"/>
                  <a:pt x="2504" y="8125"/>
                </a:cubicBezTo>
                <a:cubicBezTo>
                  <a:pt x="2907" y="8448"/>
                  <a:pt x="3359" y="8683"/>
                  <a:pt x="3859" y="8830"/>
                </a:cubicBezTo>
                <a:moveTo>
                  <a:pt x="5979" y="5500"/>
                </a:moveTo>
                <a:lnTo>
                  <a:pt x="4019" y="5500"/>
                </a:lnTo>
                <a:cubicBezTo>
                  <a:pt x="4092" y="6700"/>
                  <a:pt x="4419" y="7826"/>
                  <a:pt x="4999" y="8880"/>
                </a:cubicBezTo>
                <a:cubicBezTo>
                  <a:pt x="5579" y="7826"/>
                  <a:pt x="5905" y="6700"/>
                  <a:pt x="5979" y="5500"/>
                </a:cubicBezTo>
                <a:moveTo>
                  <a:pt x="8968" y="5500"/>
                </a:moveTo>
                <a:lnTo>
                  <a:pt x="6989" y="5500"/>
                </a:lnTo>
                <a:cubicBezTo>
                  <a:pt x="6922" y="6666"/>
                  <a:pt x="6642" y="7776"/>
                  <a:pt x="6149" y="8830"/>
                </a:cubicBezTo>
                <a:cubicBezTo>
                  <a:pt x="6642" y="8683"/>
                  <a:pt x="7090" y="8448"/>
                  <a:pt x="7494" y="8125"/>
                </a:cubicBezTo>
                <a:cubicBezTo>
                  <a:pt x="7896" y="7801"/>
                  <a:pt x="8226" y="7413"/>
                  <a:pt x="8483" y="6960"/>
                </a:cubicBezTo>
                <a:cubicBezTo>
                  <a:pt x="8739" y="6506"/>
                  <a:pt x="8901" y="6020"/>
                  <a:pt x="8968" y="5500"/>
                </a:cubicBezTo>
                <a:moveTo>
                  <a:pt x="1030" y="4500"/>
                </a:moveTo>
                <a:lnTo>
                  <a:pt x="3009" y="4500"/>
                </a:lnTo>
                <a:cubicBezTo>
                  <a:pt x="3075" y="3333"/>
                  <a:pt x="3359" y="2223"/>
                  <a:pt x="3859" y="1170"/>
                </a:cubicBezTo>
                <a:cubicBezTo>
                  <a:pt x="3359" y="1316"/>
                  <a:pt x="2907" y="1551"/>
                  <a:pt x="2504" y="1875"/>
                </a:cubicBezTo>
                <a:cubicBezTo>
                  <a:pt x="2101" y="2198"/>
                  <a:pt x="1771" y="2586"/>
                  <a:pt x="1515" y="3040"/>
                </a:cubicBezTo>
                <a:cubicBezTo>
                  <a:pt x="1258" y="3493"/>
                  <a:pt x="1096" y="3980"/>
                  <a:pt x="1030" y="4500"/>
                </a:cubicBezTo>
                <a:moveTo>
                  <a:pt x="4019" y="4500"/>
                </a:moveTo>
                <a:lnTo>
                  <a:pt x="5979" y="4500"/>
                </a:lnTo>
                <a:cubicBezTo>
                  <a:pt x="5905" y="3300"/>
                  <a:pt x="5579" y="2173"/>
                  <a:pt x="4999" y="1120"/>
                </a:cubicBezTo>
                <a:cubicBezTo>
                  <a:pt x="4419" y="2173"/>
                  <a:pt x="4092" y="3300"/>
                  <a:pt x="4019" y="4500"/>
                </a:cubicBezTo>
                <a:moveTo>
                  <a:pt x="6149" y="1170"/>
                </a:moveTo>
                <a:cubicBezTo>
                  <a:pt x="6642" y="2223"/>
                  <a:pt x="6922" y="3333"/>
                  <a:pt x="6989" y="4500"/>
                </a:cubicBezTo>
                <a:lnTo>
                  <a:pt x="8968" y="4500"/>
                </a:lnTo>
                <a:cubicBezTo>
                  <a:pt x="8901" y="3980"/>
                  <a:pt x="8739" y="3493"/>
                  <a:pt x="8483" y="3040"/>
                </a:cubicBezTo>
                <a:cubicBezTo>
                  <a:pt x="8226" y="2586"/>
                  <a:pt x="7896" y="2198"/>
                  <a:pt x="7494" y="1875"/>
                </a:cubicBezTo>
                <a:cubicBezTo>
                  <a:pt x="7090" y="1551"/>
                  <a:pt x="6642" y="1316"/>
                  <a:pt x="6149" y="117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0" id="10"/>
          <p:cNvSpPr txBox="true"/>
          <p:nvPr/>
        </p:nvSpPr>
        <p:spPr>
          <a:xfrm flipH="false" flipV="false" rot="0">
            <a:off x="695151" y="3932337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支撐全球化客戶拓展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 flipH="false" flipV="false" rot="0">
            <a:off x="695151" y="4353222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配置化映射引擎使新客戶端上線週期大幅縮短，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無需修改核心代碼即可快速對接國際頭部車廠。</a:t>
            </a:r>
            <a:endParaRPr/>
          </a:p>
        </p:txBody>
      </p:sp>
      <p:sp>
        <p:nvSpPr>
          <p:cNvPr name="AutoShape 12" id="12"/>
          <p:cNvSpPr/>
          <p:nvPr/>
        </p:nvSpPr>
        <p:spPr>
          <a:xfrm flipH="false" flipV="false" rot="0">
            <a:off x="695151" y="5688211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3" id="13"/>
          <p:cNvSpPr txBox="true"/>
          <p:nvPr/>
        </p:nvSpPr>
        <p:spPr>
          <a:xfrm flipH="false" flipV="false" rot="0">
            <a:off x="695151" y="5821561"/>
            <a:ext cx="3129669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2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70%</a:t>
            </a:r>
            <a:r>
              <a:rPr b="false" i="false" strike="noStrike" sz="1000">
                <a:ln/>
                <a:solidFill>
                  <a:srgbClr val="5B8CB8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上線加速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flipH="false" flipV="false" rot="0">
            <a:off x="4291428" y="2306836"/>
            <a:ext cx="3605948" cy="40939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5" id="15"/>
          <p:cNvSpPr/>
          <p:nvPr/>
        </p:nvSpPr>
        <p:spPr>
          <a:xfrm flipH="false" flipV="false" rot="0">
            <a:off x="4291428" y="230683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6" id="16"/>
          <p:cNvSpPr/>
          <p:nvPr/>
        </p:nvSpPr>
        <p:spPr>
          <a:xfrm flipH="false" flipV="false" rot="0">
            <a:off x="4529493" y="2602111"/>
            <a:ext cx="418996" cy="419100"/>
          </a:xfrm>
          <a:custGeom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7" id="17"/>
          <p:cNvSpPr txBox="true"/>
          <p:nvPr/>
        </p:nvSpPr>
        <p:spPr>
          <a:xfrm flipH="false" flipV="false" rot="0">
            <a:off x="4529493" y="3814465"/>
            <a:ext cx="312981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築牢信息安全合規底線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 flipH="false" flipV="false" rot="0">
            <a:off x="4529493" y="4235351"/>
            <a:ext cx="3367883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全面支持TLS 1.3與OAuth2.0認證，修復舊版漏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洞，確保通過歐美客戶嚴苛的GDPR及供應鏈安全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審計。</a:t>
            </a:r>
            <a:endParaRPr/>
          </a:p>
        </p:txBody>
      </p:sp>
      <p:sp>
        <p:nvSpPr>
          <p:cNvPr name="AutoShape 19" id="19"/>
          <p:cNvSpPr/>
          <p:nvPr/>
        </p:nvSpPr>
        <p:spPr>
          <a:xfrm flipH="false" flipV="false" rot="0">
            <a:off x="4529493" y="5688211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0" id="20"/>
          <p:cNvSpPr txBox="true"/>
          <p:nvPr/>
        </p:nvSpPr>
        <p:spPr>
          <a:xfrm flipH="false" flipV="false" rot="0">
            <a:off x="4529493" y="5821561"/>
            <a:ext cx="3129817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2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GDPR</a:t>
            </a:r>
            <a:r>
              <a:rPr b="false" i="false" strike="noStrike" sz="1000">
                <a:ln/>
                <a:solidFill>
                  <a:srgbClr val="5B8CB8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合規認證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flipH="false" flipV="false" rot="0">
            <a:off x="8125918" y="2306836"/>
            <a:ext cx="3605799" cy="40939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2" id="22"/>
          <p:cNvSpPr/>
          <p:nvPr/>
        </p:nvSpPr>
        <p:spPr>
          <a:xfrm flipH="false" flipV="false" rot="0">
            <a:off x="8125918" y="23068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3" id="23"/>
          <p:cNvSpPr/>
          <p:nvPr/>
        </p:nvSpPr>
        <p:spPr>
          <a:xfrm flipH="false" flipV="false" rot="0">
            <a:off x="8363984" y="2602111"/>
            <a:ext cx="418996" cy="419100"/>
          </a:xfrm>
          <a:custGeom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24" id="24"/>
          <p:cNvSpPr txBox="true"/>
          <p:nvPr/>
        </p:nvSpPr>
        <p:spPr>
          <a:xfrm flipH="false" flipV="false" rot="0">
            <a:off x="8363984" y="3814465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沉澱AI智能化數據資產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 flipH="false" flipV="false" rot="0">
            <a:off x="8363984" y="4235351"/>
            <a:ext cx="3367734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將非結構化EDI數據清洗並標準化為JSON格式，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為未來導入AI智能客服與供應鏈風險預測模型提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供高質量數據。</a:t>
            </a:r>
            <a:endParaRPr/>
          </a:p>
        </p:txBody>
      </p:sp>
      <p:sp>
        <p:nvSpPr>
          <p:cNvPr name="AutoShape 26" id="26"/>
          <p:cNvSpPr/>
          <p:nvPr/>
        </p:nvSpPr>
        <p:spPr>
          <a:xfrm flipH="false" flipV="false" rot="0">
            <a:off x="8363984" y="5688211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7" id="27"/>
          <p:cNvSpPr txBox="true"/>
          <p:nvPr/>
        </p:nvSpPr>
        <p:spPr>
          <a:xfrm flipH="false" flipV="false" rot="0">
            <a:off x="8363984" y="5821561"/>
            <a:ext cx="3129669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2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JSON</a:t>
            </a:r>
            <a:r>
              <a:rPr b="false" i="false" strike="noStrike" sz="1000">
                <a:ln/>
                <a:solidFill>
                  <a:srgbClr val="5B8CB8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標準化格式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0"/>
          </a:blip>
          <a:srcRect l="0" r="0" t="0" b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name="AutoShape 3" id="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name="TextBox 4" id="4"/>
          <p:cNvSpPr txBox="true"/>
          <p:nvPr/>
        </p:nvSpPr>
        <p:spPr>
          <a:xfrm flipH="false" flipV="false" rot="0">
            <a:off x="5603169" y="2517577"/>
            <a:ext cx="658578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F1F3F5">
                    <a:alpha val="60000"/>
                  </a:srgbClr>
                </a:solidFill>
                <a:latin typeface="Inter"/>
                <a:ea typeface="Inter"/>
                <a:cs typeface="Inter"/>
              </a:rPr>
              <a:t>CHAPTER 04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 flipH="false" flipV="false" rot="0">
            <a:off x="1377729" y="3003352"/>
            <a:ext cx="9433493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true" wrap="none" lIns="0" rIns="0" tIns="0" bIns="0" vert="horz"/>
          <a:lstStyle/>
          <a:p>
            <a:pPr algn="ctr">
              <a:defRPr/>
            </a:pPr>
            <a:r>
              <a:rPr lang="en-US" b="true" i="false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跨部門協同與後續規劃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 flipH="false" flipV="false" rot="0">
            <a:off x="1825070" y="4024312"/>
            <a:ext cx="8538813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rtlCol="false" anchorCtr="true" wrap="none" lIns="0" rIns="0" tIns="0" bIns="0" vert="horz"/>
          <a:lstStyle/>
          <a:p>
            <a:pPr algn="ctr">
              <a:defRPr/>
            </a:pPr>
            <a:r>
              <a:rPr lang="en-US" b="false" i="false" strike="noStrike" sz="1600">
                <a:ln/>
                <a:solidFill>
                  <a:srgbClr val="F1F3F5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凝聚組織合力，確保Q4生產環境平穩切換與價值落地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CROSS-DEPARTMENT SYNERGY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跨部門協同作戰與職責邊界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99925" y="14097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本專案打破了IT部門單打獨鬥的傳統模式，建立了IT、CS與採購部門深度聯動的敏捷協作機制。業務部門的全程參與確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保了新系統不僅「技術先進」，更「懂業務、好落地」。</a:t>
            </a:r>
            <a:endParaRPr/>
          </a:p>
        </p:txBody>
      </p:sp>
      <p:sp>
        <p:nvSpPr>
          <p:cNvPr name="AutoShape 7" id="7"/>
          <p:cNvSpPr/>
          <p:nvPr/>
        </p:nvSpPr>
        <p:spPr>
          <a:xfrm flipH="false" flipV="false" rot="0">
            <a:off x="457086" y="2249686"/>
            <a:ext cx="3605799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8" id="8"/>
          <p:cNvSpPr/>
          <p:nvPr/>
        </p:nvSpPr>
        <p:spPr>
          <a:xfrm flipH="false" flipV="false" rot="0">
            <a:off x="457086" y="224968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9" id="9"/>
          <p:cNvSpPr/>
          <p:nvPr/>
        </p:nvSpPr>
        <p:spPr>
          <a:xfrm flipH="false" flipV="false" rot="0">
            <a:off x="695151" y="2544961"/>
            <a:ext cx="418996" cy="419100"/>
          </a:xfrm>
          <a:custGeom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0" id="10"/>
          <p:cNvSpPr txBox="true"/>
          <p:nvPr/>
        </p:nvSpPr>
        <p:spPr>
          <a:xfrm flipH="false" flipV="false" rot="0">
            <a:off x="695151" y="3164086"/>
            <a:ext cx="31296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IT部門：核心技術驅動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 flipH="false" flipV="false" rot="0">
            <a:off x="695151" y="3626941"/>
            <a:ext cx="3367734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WebMethods升級組負責9.12至10.15版本遷移、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Oracle 19c適配及多元通信協議對接，築牢底層數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據傳輸基座</a:t>
            </a:r>
            <a:endParaRPr/>
          </a:p>
        </p:txBody>
      </p:sp>
      <p:sp>
        <p:nvSpPr>
          <p:cNvPr name="TextBox 12" id="12"/>
          <p:cNvSpPr txBox="true"/>
          <p:nvPr/>
        </p:nvSpPr>
        <p:spPr>
          <a:xfrm flipH="false" flipV="false" rot="0">
            <a:off x="695151" y="4467522"/>
            <a:ext cx="3367734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BuySell重構組負責SoybeanAdmin前端開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發、.NET 8.0後端架構設計及ERP接口對接，實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現業務邏輯的全面現代化</a:t>
            </a:r>
            <a:endParaRPr/>
          </a:p>
        </p:txBody>
      </p:sp>
      <p:sp>
        <p:nvSpPr>
          <p:cNvPr name="AutoShape 13" id="13"/>
          <p:cNvSpPr/>
          <p:nvPr/>
        </p:nvSpPr>
        <p:spPr>
          <a:xfrm flipH="false" flipV="false" rot="0">
            <a:off x="695151" y="5747445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4" id="14"/>
          <p:cNvSpPr txBox="true"/>
          <p:nvPr/>
        </p:nvSpPr>
        <p:spPr>
          <a:xfrm flipH="false" flipV="false" rot="0">
            <a:off x="695151" y="5880795"/>
            <a:ext cx="3129669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技術驅動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flipH="false" flipV="false" rot="0">
            <a:off x="4291428" y="2249686"/>
            <a:ext cx="3605948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6" id="16"/>
          <p:cNvSpPr/>
          <p:nvPr/>
        </p:nvSpPr>
        <p:spPr>
          <a:xfrm flipH="false" flipV="false" rot="0">
            <a:off x="4291428" y="224968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7" id="17"/>
          <p:cNvSpPr/>
          <p:nvPr/>
        </p:nvSpPr>
        <p:spPr>
          <a:xfrm flipH="false" flipV="false" rot="0">
            <a:off x="4529493" y="2544961"/>
            <a:ext cx="418996" cy="419100"/>
          </a:xfrm>
          <a:custGeom>
            <a:rect l="l" t="t" r="r" b="b"/>
            <a:pathLst>
              <a:path w="9998" h="10000">
                <a:moveTo>
                  <a:pt x="8607" y="3182"/>
                </a:moveTo>
                <a:lnTo>
                  <a:pt x="9089" y="3182"/>
                </a:lnTo>
                <a:cubicBezTo>
                  <a:pt x="9252" y="3182"/>
                  <a:pt x="9404" y="3223"/>
                  <a:pt x="9544" y="3305"/>
                </a:cubicBezTo>
                <a:cubicBezTo>
                  <a:pt x="9683" y="3386"/>
                  <a:pt x="9793" y="3496"/>
                  <a:pt x="9875" y="3636"/>
                </a:cubicBezTo>
                <a:cubicBezTo>
                  <a:pt x="9957" y="3775"/>
                  <a:pt x="9998" y="3927"/>
                  <a:pt x="9998" y="4091"/>
                </a:cubicBezTo>
                <a:lnTo>
                  <a:pt x="9998" y="5909"/>
                </a:lnTo>
                <a:cubicBezTo>
                  <a:pt x="9998" y="6073"/>
                  <a:pt x="9957" y="6224"/>
                  <a:pt x="9875" y="6364"/>
                </a:cubicBezTo>
                <a:cubicBezTo>
                  <a:pt x="9793" y="6503"/>
                  <a:pt x="9683" y="6613"/>
                  <a:pt x="9544" y="6695"/>
                </a:cubicBezTo>
                <a:cubicBezTo>
                  <a:pt x="9404" y="6777"/>
                  <a:pt x="9252" y="6818"/>
                  <a:pt x="9089" y="6818"/>
                </a:cubicBezTo>
                <a:lnTo>
                  <a:pt x="8607" y="6818"/>
                </a:lnTo>
                <a:cubicBezTo>
                  <a:pt x="8534" y="7412"/>
                  <a:pt x="8328" y="7951"/>
                  <a:pt x="7989" y="8436"/>
                </a:cubicBezTo>
                <a:cubicBezTo>
                  <a:pt x="7649" y="8921"/>
                  <a:pt x="7222" y="9300"/>
                  <a:pt x="6708" y="9573"/>
                </a:cubicBezTo>
                <a:cubicBezTo>
                  <a:pt x="6174" y="9857"/>
                  <a:pt x="5605" y="10000"/>
                  <a:pt x="4999" y="10000"/>
                </a:cubicBezTo>
                <a:lnTo>
                  <a:pt x="4999" y="9091"/>
                </a:lnTo>
                <a:cubicBezTo>
                  <a:pt x="5489" y="9091"/>
                  <a:pt x="5947" y="8966"/>
                  <a:pt x="6371" y="8718"/>
                </a:cubicBezTo>
                <a:cubicBezTo>
                  <a:pt x="6783" y="8476"/>
                  <a:pt x="7111" y="8148"/>
                  <a:pt x="7353" y="7736"/>
                </a:cubicBezTo>
                <a:cubicBezTo>
                  <a:pt x="7601" y="7312"/>
                  <a:pt x="7726" y="6854"/>
                  <a:pt x="7726" y="6364"/>
                </a:cubicBezTo>
                <a:lnTo>
                  <a:pt x="7726" y="3636"/>
                </a:lnTo>
                <a:cubicBezTo>
                  <a:pt x="7726" y="3145"/>
                  <a:pt x="7601" y="2688"/>
                  <a:pt x="7353" y="2264"/>
                </a:cubicBezTo>
                <a:cubicBezTo>
                  <a:pt x="7111" y="1851"/>
                  <a:pt x="6783" y="1524"/>
                  <a:pt x="6371" y="1282"/>
                </a:cubicBezTo>
                <a:cubicBezTo>
                  <a:pt x="5947" y="1033"/>
                  <a:pt x="5489" y="909"/>
                  <a:pt x="4999" y="909"/>
                </a:cubicBezTo>
                <a:cubicBezTo>
                  <a:pt x="4508" y="909"/>
                  <a:pt x="4051" y="1033"/>
                  <a:pt x="3627" y="1282"/>
                </a:cubicBezTo>
                <a:cubicBezTo>
                  <a:pt x="3214" y="1524"/>
                  <a:pt x="2887" y="1851"/>
                  <a:pt x="2645" y="2264"/>
                </a:cubicBezTo>
                <a:cubicBezTo>
                  <a:pt x="2396" y="2688"/>
                  <a:pt x="2272" y="3145"/>
                  <a:pt x="2272" y="3636"/>
                </a:cubicBezTo>
                <a:lnTo>
                  <a:pt x="2272" y="6818"/>
                </a:lnTo>
                <a:lnTo>
                  <a:pt x="909" y="6818"/>
                </a:lnTo>
                <a:cubicBezTo>
                  <a:pt x="745" y="6818"/>
                  <a:pt x="594" y="6777"/>
                  <a:pt x="454" y="6695"/>
                </a:cubicBezTo>
                <a:cubicBezTo>
                  <a:pt x="314" y="6613"/>
                  <a:pt x="204" y="6503"/>
                  <a:pt x="123" y="6364"/>
                </a:cubicBezTo>
                <a:cubicBezTo>
                  <a:pt x="41" y="6224"/>
                  <a:pt x="0" y="6073"/>
                  <a:pt x="0" y="5909"/>
                </a:cubicBezTo>
                <a:lnTo>
                  <a:pt x="0" y="4091"/>
                </a:lnTo>
                <a:cubicBezTo>
                  <a:pt x="0" y="3927"/>
                  <a:pt x="41" y="3775"/>
                  <a:pt x="123" y="3636"/>
                </a:cubicBezTo>
                <a:cubicBezTo>
                  <a:pt x="204" y="3496"/>
                  <a:pt x="314" y="3386"/>
                  <a:pt x="454" y="3305"/>
                </a:cubicBezTo>
                <a:cubicBezTo>
                  <a:pt x="594" y="3223"/>
                  <a:pt x="745" y="3182"/>
                  <a:pt x="909" y="3182"/>
                </a:cubicBezTo>
                <a:lnTo>
                  <a:pt x="1391" y="3182"/>
                </a:lnTo>
                <a:cubicBezTo>
                  <a:pt x="1463" y="2588"/>
                  <a:pt x="1669" y="2048"/>
                  <a:pt x="2009" y="1564"/>
                </a:cubicBezTo>
                <a:cubicBezTo>
                  <a:pt x="2348" y="1078"/>
                  <a:pt x="2775" y="699"/>
                  <a:pt x="3290" y="427"/>
                </a:cubicBezTo>
                <a:cubicBezTo>
                  <a:pt x="3823" y="142"/>
                  <a:pt x="4393" y="0"/>
                  <a:pt x="4999" y="0"/>
                </a:cubicBezTo>
                <a:cubicBezTo>
                  <a:pt x="5605" y="0"/>
                  <a:pt x="6174" y="142"/>
                  <a:pt x="6708" y="427"/>
                </a:cubicBezTo>
                <a:cubicBezTo>
                  <a:pt x="7222" y="699"/>
                  <a:pt x="7649" y="1078"/>
                  <a:pt x="7989" y="1564"/>
                </a:cubicBezTo>
                <a:cubicBezTo>
                  <a:pt x="8328" y="2048"/>
                  <a:pt x="8534" y="2588"/>
                  <a:pt x="8607" y="3182"/>
                </a:cubicBezTo>
                <a:moveTo>
                  <a:pt x="1363" y="4091"/>
                </a:moveTo>
                <a:lnTo>
                  <a:pt x="909" y="4091"/>
                </a:lnTo>
                <a:lnTo>
                  <a:pt x="909" y="5909"/>
                </a:lnTo>
                <a:lnTo>
                  <a:pt x="1363" y="5909"/>
                </a:lnTo>
                <a:lnTo>
                  <a:pt x="1363" y="4091"/>
                </a:lnTo>
                <a:moveTo>
                  <a:pt x="9089" y="4091"/>
                </a:moveTo>
                <a:lnTo>
                  <a:pt x="8635" y="4091"/>
                </a:lnTo>
                <a:lnTo>
                  <a:pt x="8635" y="5909"/>
                </a:lnTo>
                <a:lnTo>
                  <a:pt x="9089" y="5909"/>
                </a:lnTo>
                <a:lnTo>
                  <a:pt x="9089" y="4091"/>
                </a:lnTo>
                <a:moveTo>
                  <a:pt x="3072" y="6718"/>
                </a:moveTo>
                <a:lnTo>
                  <a:pt x="3554" y="5945"/>
                </a:lnTo>
                <a:cubicBezTo>
                  <a:pt x="3996" y="6224"/>
                  <a:pt x="4477" y="6364"/>
                  <a:pt x="4999" y="6364"/>
                </a:cubicBezTo>
                <a:cubicBezTo>
                  <a:pt x="5520" y="6364"/>
                  <a:pt x="6002" y="6224"/>
                  <a:pt x="6444" y="5945"/>
                </a:cubicBezTo>
                <a:lnTo>
                  <a:pt x="6926" y="6718"/>
                </a:lnTo>
                <a:cubicBezTo>
                  <a:pt x="6641" y="6900"/>
                  <a:pt x="6335" y="7038"/>
                  <a:pt x="6008" y="7132"/>
                </a:cubicBezTo>
                <a:cubicBezTo>
                  <a:pt x="5680" y="7226"/>
                  <a:pt x="5344" y="7273"/>
                  <a:pt x="4999" y="7273"/>
                </a:cubicBezTo>
                <a:cubicBezTo>
                  <a:pt x="4653" y="7273"/>
                  <a:pt x="4317" y="7226"/>
                  <a:pt x="3990" y="7132"/>
                </a:cubicBezTo>
                <a:cubicBezTo>
                  <a:pt x="3662" y="7038"/>
                  <a:pt x="3356" y="6900"/>
                  <a:pt x="3072" y="6718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8" id="18"/>
          <p:cNvSpPr txBox="true"/>
          <p:nvPr/>
        </p:nvSpPr>
        <p:spPr>
          <a:xfrm flipH="false" flipV="false" rot="0">
            <a:off x="4529493" y="3164086"/>
            <a:ext cx="3129817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CS部門：一線體驗把關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 flipH="false" flipV="false" rot="0">
            <a:off x="4529493" y="3626941"/>
            <a:ext cx="3367883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深度參與舊系統痛點梳理與新系統UAT測試，確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保可視化看板與報警機制完全契合一線客服人員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的實際作業習慣</a:t>
            </a:r>
            <a:endParaRPr/>
          </a:p>
        </p:txBody>
      </p:sp>
      <p:sp>
        <p:nvSpPr>
          <p:cNvPr name="TextBox 20" id="20"/>
          <p:cNvSpPr txBox="true"/>
          <p:nvPr/>
        </p:nvSpPr>
        <p:spPr>
          <a:xfrm flipH="false" flipV="false" rot="0">
            <a:off x="4529493" y="4467522"/>
            <a:ext cx="3367883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主導定義並優化「客戶異常處理SOP」，將系統自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動化能力轉化為標準化服務流程，提升終端客戶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滿意度</a:t>
            </a:r>
            <a:endParaRPr/>
          </a:p>
        </p:txBody>
      </p:sp>
      <p:sp>
        <p:nvSpPr>
          <p:cNvPr name="AutoShape 21" id="21"/>
          <p:cNvSpPr/>
          <p:nvPr/>
        </p:nvSpPr>
        <p:spPr>
          <a:xfrm flipH="false" flipV="false" rot="0">
            <a:off x="4529493" y="5747445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2" id="22"/>
          <p:cNvSpPr txBox="true"/>
          <p:nvPr/>
        </p:nvSpPr>
        <p:spPr>
          <a:xfrm flipH="false" flipV="false" rot="0">
            <a:off x="4529493" y="5880795"/>
            <a:ext cx="3129817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體驗把關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flipH="false" flipV="false" rot="0">
            <a:off x="8125918" y="2249686"/>
            <a:ext cx="3605799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4" id="24"/>
          <p:cNvSpPr/>
          <p:nvPr/>
        </p:nvSpPr>
        <p:spPr>
          <a:xfrm flipH="false" flipV="false" rot="0">
            <a:off x="8125918" y="224968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5" id="25"/>
          <p:cNvSpPr/>
          <p:nvPr/>
        </p:nvSpPr>
        <p:spPr>
          <a:xfrm flipH="false" flipV="false" rot="0">
            <a:off x="8363984" y="2544961"/>
            <a:ext cx="418996" cy="419100"/>
          </a:xfrm>
          <a:custGeom>
            <a:rect l="l" t="t" r="r" b="b"/>
            <a:pathLst>
              <a:path w="9998" h="10000">
                <a:moveTo>
                  <a:pt x="4812" y="3708"/>
                </a:moveTo>
                <a:lnTo>
                  <a:pt x="5551" y="2979"/>
                </a:lnTo>
                <a:lnTo>
                  <a:pt x="6290" y="3708"/>
                </a:lnTo>
                <a:cubicBezTo>
                  <a:pt x="6755" y="4173"/>
                  <a:pt x="7071" y="4725"/>
                  <a:pt x="7238" y="5365"/>
                </a:cubicBezTo>
                <a:cubicBezTo>
                  <a:pt x="7398" y="5983"/>
                  <a:pt x="7398" y="6601"/>
                  <a:pt x="7238" y="7219"/>
                </a:cubicBezTo>
                <a:cubicBezTo>
                  <a:pt x="7071" y="7851"/>
                  <a:pt x="6755" y="8399"/>
                  <a:pt x="6290" y="8865"/>
                </a:cubicBez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5551" y="8135"/>
                </a:lnTo>
                <a:cubicBezTo>
                  <a:pt x="5884" y="7795"/>
                  <a:pt x="6110" y="7402"/>
                  <a:pt x="6228" y="6958"/>
                </a:cubicBezTo>
                <a:cubicBezTo>
                  <a:pt x="6346" y="6514"/>
                  <a:pt x="6346" y="6068"/>
                  <a:pt x="6228" y="5620"/>
                </a:cubicBezTo>
                <a:cubicBezTo>
                  <a:pt x="6110" y="5172"/>
                  <a:pt x="5884" y="4781"/>
                  <a:pt x="5551" y="4448"/>
                </a:cubicBezTo>
                <a:lnTo>
                  <a:pt x="4812" y="3708"/>
                </a:lnTo>
                <a:moveTo>
                  <a:pt x="9050" y="6104"/>
                </a:move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4447" y="1865"/>
                </a:lnTo>
                <a:cubicBezTo>
                  <a:pt x="4113" y="2205"/>
                  <a:pt x="3888" y="2597"/>
                  <a:pt x="3770" y="3042"/>
                </a:cubicBezTo>
                <a:cubicBezTo>
                  <a:pt x="3652" y="3486"/>
                  <a:pt x="3652" y="3932"/>
                  <a:pt x="3770" y="4380"/>
                </a:cubicBezTo>
                <a:cubicBezTo>
                  <a:pt x="3888" y="4828"/>
                  <a:pt x="4113" y="5218"/>
                  <a:pt x="4447" y="5552"/>
                </a:cubicBezTo>
                <a:lnTo>
                  <a:pt x="5186" y="6292"/>
                </a:lnTo>
                <a:lnTo>
                  <a:pt x="4447" y="7021"/>
                </a:lnTo>
                <a:lnTo>
                  <a:pt x="3708" y="6292"/>
                </a:lnTo>
                <a:cubicBezTo>
                  <a:pt x="3242" y="5826"/>
                  <a:pt x="2926" y="5274"/>
                  <a:pt x="2760" y="4635"/>
                </a:cubicBezTo>
                <a:cubicBezTo>
                  <a:pt x="2600" y="4017"/>
                  <a:pt x="2600" y="3399"/>
                  <a:pt x="2760" y="2781"/>
                </a:cubicBezTo>
                <a:cubicBezTo>
                  <a:pt x="2926" y="2149"/>
                  <a:pt x="3242" y="1600"/>
                  <a:pt x="3708" y="1135"/>
                </a:cubicBez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26" id="26"/>
          <p:cNvSpPr txBox="true"/>
          <p:nvPr/>
        </p:nvSpPr>
        <p:spPr>
          <a:xfrm flipH="false" flipV="false" rot="0">
            <a:off x="8363984" y="3164086"/>
            <a:ext cx="31296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採購部門：供應鏈協同驗證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 flipH="false" flipV="false" rot="0">
            <a:off x="8363984" y="3626941"/>
            <a:ext cx="3367734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全面梳理供應商EDI規範與標籤要求，嚴格驗證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BuySell系統對採購訂單(PO)與發貨通知(ASN)的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數據轉換準確性</a:t>
            </a:r>
            <a:endParaRPr/>
          </a:p>
        </p:txBody>
      </p:sp>
      <p:sp>
        <p:nvSpPr>
          <p:cNvPr name="TextBox 28" id="28"/>
          <p:cNvSpPr txBox="true"/>
          <p:nvPr/>
        </p:nvSpPr>
        <p:spPr>
          <a:xfrm flipH="false" flipV="false" rot="0">
            <a:off x="8363984" y="4467522"/>
            <a:ext cx="3367734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協助評估新系統對供應鏈透明度與響應速度的提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升價值，確保系統升級直接賦能採購成本控制與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庫存優化</a:t>
            </a:r>
            <a:endParaRPr/>
          </a:p>
        </p:txBody>
      </p:sp>
      <p:sp>
        <p:nvSpPr>
          <p:cNvPr name="AutoShape 29" id="29"/>
          <p:cNvSpPr/>
          <p:nvPr/>
        </p:nvSpPr>
        <p:spPr>
          <a:xfrm flipH="false" flipV="false" rot="0">
            <a:off x="8363984" y="5747445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30" id="30"/>
          <p:cNvSpPr txBox="true"/>
          <p:nvPr/>
        </p:nvSpPr>
        <p:spPr>
          <a:xfrm flipH="false" flipV="false" rot="0">
            <a:off x="8363984" y="5880795"/>
            <a:ext cx="3129669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供應鏈協同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" id="3"/>
          <p:cNvSpPr txBox="true"/>
          <p:nvPr/>
        </p:nvSpPr>
        <p:spPr>
          <a:xfrm flipH="false" flipV="false" rot="0">
            <a:off x="457086" y="4000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EDI BuySell Upgrade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flipH="false" flipV="false" rot="0">
            <a:off x="457086" y="6667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true" i="false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Q3進度回顧與Q4衝刺規劃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flipH="false" flipV="false" rot="0">
            <a:off x="457086" y="12382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6" id="6"/>
          <p:cNvSpPr txBox="true"/>
          <p:nvPr/>
        </p:nvSpPr>
        <p:spPr>
          <a:xfrm flipH="false" flipV="false" rot="0">
            <a:off x="580880" y="12763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專案在Q3已順利完成核心基礎設施搭建與主要模塊開發，整體進度符合預期。Q4將全面進入業務驗證、生產切換與數據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沉澱階段，確保年底旺季系統平穩過渡並為AI應用蓄力。</a:t>
            </a:r>
            <a:endParaRPr/>
          </a:p>
        </p:txBody>
      </p:sp>
      <p:sp>
        <p:nvSpPr>
          <p:cNvPr name="AutoShape 7" id="7"/>
          <p:cNvSpPr/>
          <p:nvPr/>
        </p:nvSpPr>
        <p:spPr>
          <a:xfrm flipH="false" flipV="false" rot="0">
            <a:off x="457086" y="2078236"/>
            <a:ext cx="5561209" cy="21231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8" id="8"/>
          <p:cNvSpPr/>
          <p:nvPr/>
        </p:nvSpPr>
        <p:spPr>
          <a:xfrm flipH="false" flipV="false" rot="0">
            <a:off x="457086" y="2078236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9" id="9"/>
          <p:cNvSpPr/>
          <p:nvPr/>
        </p:nvSpPr>
        <p:spPr>
          <a:xfrm flipH="false" flipV="false" rot="0">
            <a:off x="657061" y="2278261"/>
            <a:ext cx="361860" cy="361950"/>
          </a:xfrm>
          <a:custGeom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0" id="10"/>
          <p:cNvSpPr txBox="true"/>
          <p:nvPr/>
        </p:nvSpPr>
        <p:spPr>
          <a:xfrm flipH="false" flipV="false" rot="0">
            <a:off x="657061" y="2773263"/>
            <a:ext cx="516126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Q3 核心里程碑達成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 flipH="false" flipV="false" rot="0">
            <a:off x="657061" y="3121819"/>
            <a:ext cx="5361234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新環境搭建與 Oracle 19c 數據遷移驗證完成，.NET 8.0 核心 API 開發進度達 80%，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WebMethods 10.15 並行測試啟動。</a:t>
            </a:r>
            <a:endParaRPr/>
          </a:p>
        </p:txBody>
      </p:sp>
      <p:sp>
        <p:nvSpPr>
          <p:cNvPr name="AutoShape 12" id="12"/>
          <p:cNvSpPr/>
          <p:nvPr/>
        </p:nvSpPr>
        <p:spPr>
          <a:xfrm flipH="false" flipV="false" rot="0">
            <a:off x="657061" y="3662362"/>
            <a:ext cx="516126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13" id="13"/>
          <p:cNvSpPr txBox="true"/>
          <p:nvPr/>
        </p:nvSpPr>
        <p:spPr>
          <a:xfrm flipH="false" flipV="false" rot="0">
            <a:off x="657061" y="3738562"/>
            <a:ext cx="5161260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80%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flipH="false" flipV="false" rot="0">
            <a:off x="6170657" y="2078236"/>
            <a:ext cx="5561209" cy="21231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5" id="15"/>
          <p:cNvSpPr/>
          <p:nvPr/>
        </p:nvSpPr>
        <p:spPr>
          <a:xfrm flipH="false" flipV="false" rot="0">
            <a:off x="6170657" y="2078236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16" id="16"/>
          <p:cNvSpPr/>
          <p:nvPr/>
        </p:nvSpPr>
        <p:spPr>
          <a:xfrm flipH="false" flipV="false" rot="0">
            <a:off x="6370632" y="2278261"/>
            <a:ext cx="361860" cy="361950"/>
          </a:xfrm>
          <a:custGeom>
            <a:rect l="l" t="t" r="r" b="b"/>
            <a:pathLst>
              <a:path w="9998" h="10000">
                <a:moveTo>
                  <a:pt x="4347" y="6047"/>
                </a:moveTo>
                <a:lnTo>
                  <a:pt x="4347" y="6977"/>
                </a:lnTo>
                <a:cubicBezTo>
                  <a:pt x="3760" y="6977"/>
                  <a:pt x="3213" y="7104"/>
                  <a:pt x="2706" y="7358"/>
                </a:cubicBezTo>
                <a:cubicBezTo>
                  <a:pt x="2213" y="7606"/>
                  <a:pt x="1822" y="7941"/>
                  <a:pt x="1532" y="8363"/>
                </a:cubicBezTo>
                <a:cubicBezTo>
                  <a:pt x="1235" y="8797"/>
                  <a:pt x="1087" y="9268"/>
                  <a:pt x="1087" y="9777"/>
                </a:cubicBezTo>
                <a:lnTo>
                  <a:pt x="0" y="9777"/>
                </a:lnTo>
                <a:cubicBezTo>
                  <a:pt x="0" y="9101"/>
                  <a:pt x="199" y="8474"/>
                  <a:pt x="598" y="7898"/>
                </a:cubicBezTo>
                <a:cubicBezTo>
                  <a:pt x="982" y="7333"/>
                  <a:pt x="1500" y="6886"/>
                  <a:pt x="2152" y="6558"/>
                </a:cubicBezTo>
                <a:cubicBezTo>
                  <a:pt x="2825" y="6217"/>
                  <a:pt x="3557" y="6047"/>
                  <a:pt x="4347" y="6047"/>
                </a:cubicBezTo>
                <a:moveTo>
                  <a:pt x="4347" y="5581"/>
                </a:moveTo>
                <a:cubicBezTo>
                  <a:pt x="3760" y="5581"/>
                  <a:pt x="3213" y="5457"/>
                  <a:pt x="2706" y="5209"/>
                </a:cubicBezTo>
                <a:cubicBezTo>
                  <a:pt x="2213" y="4961"/>
                  <a:pt x="1822" y="4626"/>
                  <a:pt x="1532" y="4205"/>
                </a:cubicBezTo>
                <a:cubicBezTo>
                  <a:pt x="1235" y="3770"/>
                  <a:pt x="1087" y="3300"/>
                  <a:pt x="1087" y="2795"/>
                </a:cubicBezTo>
                <a:cubicBezTo>
                  <a:pt x="1087" y="2289"/>
                  <a:pt x="1235" y="1820"/>
                  <a:pt x="1532" y="1386"/>
                </a:cubicBezTo>
                <a:cubicBezTo>
                  <a:pt x="1822" y="964"/>
                  <a:pt x="2213" y="629"/>
                  <a:pt x="2706" y="381"/>
                </a:cubicBezTo>
                <a:cubicBezTo>
                  <a:pt x="3213" y="127"/>
                  <a:pt x="3762" y="0"/>
                  <a:pt x="4352" y="0"/>
                </a:cubicBezTo>
                <a:cubicBezTo>
                  <a:pt x="4942" y="0"/>
                  <a:pt x="5491" y="127"/>
                  <a:pt x="5999" y="381"/>
                </a:cubicBezTo>
                <a:cubicBezTo>
                  <a:pt x="6484" y="629"/>
                  <a:pt x="6872" y="964"/>
                  <a:pt x="7162" y="1386"/>
                </a:cubicBezTo>
                <a:cubicBezTo>
                  <a:pt x="7458" y="1820"/>
                  <a:pt x="7607" y="2289"/>
                  <a:pt x="7607" y="2795"/>
                </a:cubicBezTo>
                <a:cubicBezTo>
                  <a:pt x="7607" y="3300"/>
                  <a:pt x="7458" y="3770"/>
                  <a:pt x="7162" y="4205"/>
                </a:cubicBezTo>
                <a:cubicBezTo>
                  <a:pt x="6872" y="4626"/>
                  <a:pt x="6484" y="4961"/>
                  <a:pt x="5999" y="5209"/>
                </a:cubicBezTo>
                <a:cubicBezTo>
                  <a:pt x="5491" y="5457"/>
                  <a:pt x="4941" y="5581"/>
                  <a:pt x="4347" y="5581"/>
                </a:cubicBezTo>
                <a:moveTo>
                  <a:pt x="4347" y="4651"/>
                </a:moveTo>
                <a:cubicBezTo>
                  <a:pt x="4738" y="4651"/>
                  <a:pt x="5100" y="4569"/>
                  <a:pt x="5434" y="4405"/>
                </a:cubicBezTo>
                <a:cubicBezTo>
                  <a:pt x="5767" y="4240"/>
                  <a:pt x="6031" y="4015"/>
                  <a:pt x="6227" y="3730"/>
                </a:cubicBezTo>
                <a:cubicBezTo>
                  <a:pt x="6422" y="3444"/>
                  <a:pt x="6520" y="3133"/>
                  <a:pt x="6520" y="2795"/>
                </a:cubicBezTo>
                <a:cubicBezTo>
                  <a:pt x="6520" y="2457"/>
                  <a:pt x="6422" y="2145"/>
                  <a:pt x="6227" y="1860"/>
                </a:cubicBezTo>
                <a:cubicBezTo>
                  <a:pt x="6031" y="1575"/>
                  <a:pt x="5767" y="1349"/>
                  <a:pt x="5434" y="1181"/>
                </a:cubicBezTo>
                <a:cubicBezTo>
                  <a:pt x="5100" y="1013"/>
                  <a:pt x="4738" y="930"/>
                  <a:pt x="4347" y="930"/>
                </a:cubicBezTo>
                <a:cubicBezTo>
                  <a:pt x="3955" y="930"/>
                  <a:pt x="3593" y="1013"/>
                  <a:pt x="3260" y="1181"/>
                </a:cubicBezTo>
                <a:cubicBezTo>
                  <a:pt x="2926" y="1349"/>
                  <a:pt x="2662" y="1575"/>
                  <a:pt x="2467" y="1860"/>
                </a:cubicBezTo>
                <a:cubicBezTo>
                  <a:pt x="2271" y="2145"/>
                  <a:pt x="2173" y="2457"/>
                  <a:pt x="2173" y="2795"/>
                </a:cubicBezTo>
                <a:cubicBezTo>
                  <a:pt x="2173" y="3133"/>
                  <a:pt x="2271" y="3444"/>
                  <a:pt x="2467" y="3730"/>
                </a:cubicBezTo>
                <a:cubicBezTo>
                  <a:pt x="2662" y="4015"/>
                  <a:pt x="2926" y="4240"/>
                  <a:pt x="3260" y="4405"/>
                </a:cubicBezTo>
                <a:cubicBezTo>
                  <a:pt x="3593" y="4569"/>
                  <a:pt x="3955" y="4651"/>
                  <a:pt x="4347" y="4651"/>
                </a:cubicBezTo>
                <a:moveTo>
                  <a:pt x="5216" y="8558"/>
                </a:moveTo>
                <a:lnTo>
                  <a:pt x="5760" y="8288"/>
                </a:lnTo>
                <a:cubicBezTo>
                  <a:pt x="5723" y="8164"/>
                  <a:pt x="5705" y="8038"/>
                  <a:pt x="5705" y="7912"/>
                </a:cubicBezTo>
                <a:cubicBezTo>
                  <a:pt x="5705" y="7784"/>
                  <a:pt x="5723" y="7659"/>
                  <a:pt x="5760" y="7535"/>
                </a:cubicBezTo>
                <a:lnTo>
                  <a:pt x="5216" y="7265"/>
                </a:lnTo>
                <a:lnTo>
                  <a:pt x="5760" y="6465"/>
                </a:lnTo>
                <a:lnTo>
                  <a:pt x="6303" y="6726"/>
                </a:lnTo>
                <a:cubicBezTo>
                  <a:pt x="6520" y="6552"/>
                  <a:pt x="6774" y="6427"/>
                  <a:pt x="7064" y="6353"/>
                </a:cubicBezTo>
                <a:lnTo>
                  <a:pt x="7064" y="5814"/>
                </a:lnTo>
                <a:lnTo>
                  <a:pt x="8151" y="5814"/>
                </a:lnTo>
                <a:lnTo>
                  <a:pt x="8151" y="6353"/>
                </a:lnTo>
                <a:cubicBezTo>
                  <a:pt x="8440" y="6427"/>
                  <a:pt x="8693" y="6552"/>
                  <a:pt x="8911" y="6726"/>
                </a:cubicBezTo>
                <a:lnTo>
                  <a:pt x="9455" y="6465"/>
                </a:lnTo>
                <a:lnTo>
                  <a:pt x="9998" y="7265"/>
                </a:lnTo>
                <a:lnTo>
                  <a:pt x="9455" y="7535"/>
                </a:lnTo>
                <a:cubicBezTo>
                  <a:pt x="9491" y="7659"/>
                  <a:pt x="9509" y="7784"/>
                  <a:pt x="9509" y="7912"/>
                </a:cubicBezTo>
                <a:cubicBezTo>
                  <a:pt x="9509" y="8038"/>
                  <a:pt x="9491" y="8164"/>
                  <a:pt x="9455" y="8288"/>
                </a:cubicBezTo>
                <a:lnTo>
                  <a:pt x="9998" y="8558"/>
                </a:lnTo>
                <a:lnTo>
                  <a:pt x="9455" y="9358"/>
                </a:lnTo>
                <a:lnTo>
                  <a:pt x="8911" y="9098"/>
                </a:lnTo>
                <a:cubicBezTo>
                  <a:pt x="8693" y="9271"/>
                  <a:pt x="8440" y="9395"/>
                  <a:pt x="8151" y="9470"/>
                </a:cubicBezTo>
                <a:lnTo>
                  <a:pt x="8151" y="10000"/>
                </a:lnTo>
                <a:lnTo>
                  <a:pt x="7064" y="10000"/>
                </a:lnTo>
                <a:lnTo>
                  <a:pt x="7064" y="9470"/>
                </a:lnTo>
                <a:cubicBezTo>
                  <a:pt x="6774" y="9395"/>
                  <a:pt x="6520" y="9271"/>
                  <a:pt x="6303" y="9098"/>
                </a:cubicBezTo>
                <a:lnTo>
                  <a:pt x="5760" y="9358"/>
                </a:lnTo>
                <a:lnTo>
                  <a:pt x="5216" y="8558"/>
                </a:lnTo>
                <a:moveTo>
                  <a:pt x="7607" y="8614"/>
                </a:moveTo>
                <a:lnTo>
                  <a:pt x="7607" y="8605"/>
                </a:lnTo>
                <a:cubicBezTo>
                  <a:pt x="7831" y="8605"/>
                  <a:pt x="8023" y="8538"/>
                  <a:pt x="8183" y="8405"/>
                </a:cubicBezTo>
                <a:cubicBezTo>
                  <a:pt x="8342" y="8271"/>
                  <a:pt x="8422" y="8107"/>
                  <a:pt x="8422" y="7912"/>
                </a:cubicBezTo>
                <a:cubicBezTo>
                  <a:pt x="8422" y="7716"/>
                  <a:pt x="8342" y="7552"/>
                  <a:pt x="8183" y="7419"/>
                </a:cubicBezTo>
                <a:cubicBezTo>
                  <a:pt x="8023" y="7285"/>
                  <a:pt x="7831" y="7217"/>
                  <a:pt x="7607" y="7214"/>
                </a:cubicBezTo>
                <a:cubicBezTo>
                  <a:pt x="7382" y="7210"/>
                  <a:pt x="7190" y="7277"/>
                  <a:pt x="7031" y="7414"/>
                </a:cubicBezTo>
                <a:cubicBezTo>
                  <a:pt x="6871" y="7550"/>
                  <a:pt x="6792" y="7716"/>
                  <a:pt x="6792" y="7912"/>
                </a:cubicBezTo>
                <a:cubicBezTo>
                  <a:pt x="6792" y="8107"/>
                  <a:pt x="6871" y="8273"/>
                  <a:pt x="7031" y="8409"/>
                </a:cubicBezTo>
                <a:cubicBezTo>
                  <a:pt x="7190" y="8545"/>
                  <a:pt x="7382" y="8614"/>
                  <a:pt x="7607" y="861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17" id="17"/>
          <p:cNvSpPr txBox="true"/>
          <p:nvPr/>
        </p:nvSpPr>
        <p:spPr>
          <a:xfrm flipH="false" flipV="false" rot="0">
            <a:off x="6370632" y="2773263"/>
            <a:ext cx="516126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Q4 業務驗證與培訓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 flipH="false" flipV="false" rot="0">
            <a:off x="6370632" y="3121819"/>
            <a:ext cx="5361234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組織 CS 與採購部門開展全面 UAT 測試與系統操作培訓，確保一線人員熟練掌握新看板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與異常處理 SOP。</a:t>
            </a:r>
            <a:endParaRPr/>
          </a:p>
        </p:txBody>
      </p:sp>
      <p:sp>
        <p:nvSpPr>
          <p:cNvPr name="AutoShape 19" id="19"/>
          <p:cNvSpPr/>
          <p:nvPr/>
        </p:nvSpPr>
        <p:spPr>
          <a:xfrm flipH="false" flipV="false" rot="0">
            <a:off x="6370632" y="3662362"/>
            <a:ext cx="516126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0" id="20"/>
          <p:cNvSpPr txBox="true"/>
          <p:nvPr/>
        </p:nvSpPr>
        <p:spPr>
          <a:xfrm flipH="false" flipV="false" rot="0">
            <a:off x="6370632" y="3738562"/>
            <a:ext cx="5161260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UAT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flipH="false" flipV="false" rot="0">
            <a:off x="457086" y="4353818"/>
            <a:ext cx="5561209" cy="21231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2" id="22"/>
          <p:cNvSpPr/>
          <p:nvPr/>
        </p:nvSpPr>
        <p:spPr>
          <a:xfrm flipH="false" flipV="false" rot="0">
            <a:off x="457086" y="4353818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3" id="23"/>
          <p:cNvSpPr/>
          <p:nvPr/>
        </p:nvSpPr>
        <p:spPr>
          <a:xfrm flipH="false" flipV="false" rot="0">
            <a:off x="657061" y="4553843"/>
            <a:ext cx="361860" cy="361950"/>
          </a:xfrm>
          <a:custGeom>
            <a:rect l="l" t="t" r="r" b="b"/>
            <a:pathLst>
              <a:path w="9998" h="10000">
                <a:moveTo>
                  <a:pt x="2230" y="2110"/>
                </a:moveTo>
                <a:lnTo>
                  <a:pt x="1730" y="1220"/>
                </a:lnTo>
                <a:cubicBezTo>
                  <a:pt x="2176" y="833"/>
                  <a:pt x="2676" y="533"/>
                  <a:pt x="3229" y="320"/>
                </a:cubicBezTo>
                <a:cubicBezTo>
                  <a:pt x="3795" y="106"/>
                  <a:pt x="4385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526"/>
                  <a:pt x="9918" y="6036"/>
                  <a:pt x="9758" y="6530"/>
                </a:cubicBezTo>
                <a:cubicBezTo>
                  <a:pt x="9604" y="7010"/>
                  <a:pt x="9381" y="7456"/>
                  <a:pt x="9088" y="7870"/>
                </a:cubicBezTo>
                <a:lnTo>
                  <a:pt x="7499" y="5000"/>
                </a:ln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472" y="1000"/>
                  <a:pt x="3965" y="1100"/>
                  <a:pt x="3479" y="1300"/>
                </a:cubicBezTo>
                <a:cubicBezTo>
                  <a:pt x="3012" y="1493"/>
                  <a:pt x="2596" y="1763"/>
                  <a:pt x="2230" y="2110"/>
                </a:cubicBezTo>
                <a:moveTo>
                  <a:pt x="7768" y="7890"/>
                </a:moveTo>
                <a:lnTo>
                  <a:pt x="8268" y="8780"/>
                </a:lnTo>
                <a:cubicBezTo>
                  <a:pt x="7821" y="9166"/>
                  <a:pt x="7321" y="9466"/>
                  <a:pt x="6769" y="9680"/>
                </a:cubicBezTo>
                <a:cubicBezTo>
                  <a:pt x="6202" y="9893"/>
                  <a:pt x="5612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473"/>
                  <a:pt x="80" y="3963"/>
                  <a:pt x="240" y="3470"/>
                </a:cubicBezTo>
                <a:cubicBezTo>
                  <a:pt x="393" y="2990"/>
                  <a:pt x="616" y="2543"/>
                  <a:pt x="910" y="2130"/>
                </a:cubicBezTo>
                <a:lnTo>
                  <a:pt x="2500" y="5000"/>
                </a:ln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525" y="9000"/>
                  <a:pt x="6032" y="8900"/>
                  <a:pt x="6519" y="8700"/>
                </a:cubicBezTo>
                <a:cubicBezTo>
                  <a:pt x="6985" y="8506"/>
                  <a:pt x="7402" y="8236"/>
                  <a:pt x="7768" y="789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24" id="24"/>
          <p:cNvSpPr txBox="true"/>
          <p:nvPr/>
        </p:nvSpPr>
        <p:spPr>
          <a:xfrm flipH="false" flipV="false" rot="0">
            <a:off x="657061" y="5048846"/>
            <a:ext cx="516126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Q4 生產環境切換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 flipH="false" flipV="false" rot="0">
            <a:off x="657061" y="5397401"/>
            <a:ext cx="5361234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制定嚴密灰度發布與回滾預案，確保雙十一及年底旺季期間新舊系統平穩過渡，保障業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務零中斷。</a:t>
            </a:r>
            <a:endParaRPr/>
          </a:p>
        </p:txBody>
      </p:sp>
      <p:sp>
        <p:nvSpPr>
          <p:cNvPr name="AutoShape 26" id="26"/>
          <p:cNvSpPr/>
          <p:nvPr/>
        </p:nvSpPr>
        <p:spPr>
          <a:xfrm flipH="false" flipV="false" rot="0">
            <a:off x="657061" y="5937945"/>
            <a:ext cx="516126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27" id="27"/>
          <p:cNvSpPr txBox="true"/>
          <p:nvPr/>
        </p:nvSpPr>
        <p:spPr>
          <a:xfrm flipH="false" flipV="false" rot="0">
            <a:off x="657061" y="6014145"/>
            <a:ext cx="5161260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零中斷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flipH="false" flipV="false" rot="0">
            <a:off x="6170657" y="4353818"/>
            <a:ext cx="5561209" cy="21231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29" id="29"/>
          <p:cNvSpPr/>
          <p:nvPr/>
        </p:nvSpPr>
        <p:spPr>
          <a:xfrm flipH="false" flipV="false" rot="0">
            <a:off x="6170657" y="4353818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30" id="30"/>
          <p:cNvSpPr/>
          <p:nvPr/>
        </p:nvSpPr>
        <p:spPr>
          <a:xfrm flipH="false" flipV="false" rot="0">
            <a:off x="6370632" y="4553843"/>
            <a:ext cx="361860" cy="361950"/>
          </a:xfrm>
          <a:custGeom>
            <a:rect l="l" t="t" r="r" b="b"/>
            <a:pathLst>
              <a:path w="9998" h="10000">
                <a:moveTo>
                  <a:pt x="5624" y="737"/>
                </a:moveTo>
                <a:lnTo>
                  <a:pt x="5624" y="727"/>
                </a:lnTo>
                <a:cubicBezTo>
                  <a:pt x="5624" y="837"/>
                  <a:pt x="5606" y="940"/>
                  <a:pt x="5570" y="1035"/>
                </a:cubicBezTo>
                <a:cubicBezTo>
                  <a:pt x="5534" y="1129"/>
                  <a:pt x="5482" y="1208"/>
                  <a:pt x="5416" y="1274"/>
                </a:cubicBezTo>
                <a:lnTo>
                  <a:pt x="5416" y="2191"/>
                </a:lnTo>
                <a:lnTo>
                  <a:pt x="7499" y="2191"/>
                </a:lnTo>
                <a:cubicBezTo>
                  <a:pt x="7726" y="2191"/>
                  <a:pt x="7936" y="2257"/>
                  <a:pt x="8128" y="2391"/>
                </a:cubicBezTo>
                <a:cubicBezTo>
                  <a:pt x="8319" y="2525"/>
                  <a:pt x="8470" y="2704"/>
                  <a:pt x="8582" y="2928"/>
                </a:cubicBezTo>
                <a:cubicBezTo>
                  <a:pt x="8692" y="3152"/>
                  <a:pt x="8748" y="3395"/>
                  <a:pt x="8748" y="3655"/>
                </a:cubicBezTo>
                <a:lnTo>
                  <a:pt x="8748" y="8536"/>
                </a:lnTo>
                <a:cubicBezTo>
                  <a:pt x="8748" y="8802"/>
                  <a:pt x="8692" y="9048"/>
                  <a:pt x="8582" y="9273"/>
                </a:cubicBezTo>
                <a:cubicBezTo>
                  <a:pt x="8470" y="9497"/>
                  <a:pt x="8319" y="9676"/>
                  <a:pt x="8128" y="9810"/>
                </a:cubicBezTo>
                <a:cubicBezTo>
                  <a:pt x="7936" y="9943"/>
                  <a:pt x="7726" y="10006"/>
                  <a:pt x="7499" y="10000"/>
                </a:cubicBezTo>
                <a:lnTo>
                  <a:pt x="2500" y="10000"/>
                </a:lnTo>
                <a:cubicBezTo>
                  <a:pt x="2272" y="10006"/>
                  <a:pt x="2062" y="9943"/>
                  <a:pt x="1870" y="9810"/>
                </a:cubicBezTo>
                <a:cubicBezTo>
                  <a:pt x="1678" y="9676"/>
                  <a:pt x="1527" y="9497"/>
                  <a:pt x="1416" y="9273"/>
                </a:cubicBezTo>
                <a:cubicBezTo>
                  <a:pt x="1305" y="9048"/>
                  <a:pt x="1250" y="8802"/>
                  <a:pt x="1250" y="8536"/>
                </a:cubicBezTo>
                <a:lnTo>
                  <a:pt x="1250" y="3655"/>
                </a:lnTo>
                <a:cubicBezTo>
                  <a:pt x="1250" y="3395"/>
                  <a:pt x="1305" y="3152"/>
                  <a:pt x="1416" y="2928"/>
                </a:cubicBezTo>
                <a:cubicBezTo>
                  <a:pt x="1527" y="2704"/>
                  <a:pt x="1678" y="2525"/>
                  <a:pt x="1870" y="2391"/>
                </a:cubicBezTo>
                <a:cubicBezTo>
                  <a:pt x="2062" y="2257"/>
                  <a:pt x="2272" y="2191"/>
                  <a:pt x="2500" y="2191"/>
                </a:cubicBezTo>
                <a:lnTo>
                  <a:pt x="4582" y="2191"/>
                </a:lnTo>
                <a:lnTo>
                  <a:pt x="4582" y="1274"/>
                </a:lnTo>
                <a:cubicBezTo>
                  <a:pt x="4515" y="1208"/>
                  <a:pt x="4464" y="1129"/>
                  <a:pt x="4428" y="1035"/>
                </a:cubicBezTo>
                <a:cubicBezTo>
                  <a:pt x="4392" y="940"/>
                  <a:pt x="4374" y="841"/>
                  <a:pt x="4374" y="737"/>
                </a:cubicBezTo>
                <a:cubicBezTo>
                  <a:pt x="4374" y="529"/>
                  <a:pt x="4435" y="353"/>
                  <a:pt x="4557" y="210"/>
                </a:cubicBezTo>
                <a:cubicBezTo>
                  <a:pt x="4679" y="66"/>
                  <a:pt x="4827" y="-3"/>
                  <a:pt x="4999" y="0"/>
                </a:cubicBezTo>
                <a:cubicBezTo>
                  <a:pt x="5171" y="3"/>
                  <a:pt x="5318" y="75"/>
                  <a:pt x="5441" y="215"/>
                </a:cubicBezTo>
                <a:cubicBezTo>
                  <a:pt x="5563" y="355"/>
                  <a:pt x="5624" y="529"/>
                  <a:pt x="5624" y="737"/>
                </a:cubicBezTo>
                <a:moveTo>
                  <a:pt x="7499" y="3167"/>
                </a:moveTo>
                <a:lnTo>
                  <a:pt x="2500" y="3167"/>
                </a:lnTo>
                <a:cubicBezTo>
                  <a:pt x="2383" y="3167"/>
                  <a:pt x="2284" y="3216"/>
                  <a:pt x="2204" y="3314"/>
                </a:cubicBezTo>
                <a:cubicBezTo>
                  <a:pt x="2123" y="3411"/>
                  <a:pt x="2083" y="3525"/>
                  <a:pt x="2083" y="3655"/>
                </a:cubicBezTo>
                <a:lnTo>
                  <a:pt x="2083" y="8536"/>
                </a:lnTo>
                <a:cubicBezTo>
                  <a:pt x="2083" y="8672"/>
                  <a:pt x="2123" y="8788"/>
                  <a:pt x="2204" y="8882"/>
                </a:cubicBezTo>
                <a:cubicBezTo>
                  <a:pt x="2284" y="8976"/>
                  <a:pt x="2383" y="9024"/>
                  <a:pt x="2500" y="9024"/>
                </a:cubicBezTo>
                <a:lnTo>
                  <a:pt x="7499" y="9024"/>
                </a:lnTo>
                <a:cubicBezTo>
                  <a:pt x="7615" y="9024"/>
                  <a:pt x="7713" y="8976"/>
                  <a:pt x="7794" y="8882"/>
                </a:cubicBezTo>
                <a:cubicBezTo>
                  <a:pt x="7874" y="8788"/>
                  <a:pt x="7915" y="8672"/>
                  <a:pt x="7915" y="8536"/>
                </a:cubicBezTo>
                <a:lnTo>
                  <a:pt x="7915" y="3655"/>
                </a:lnTo>
                <a:cubicBezTo>
                  <a:pt x="7915" y="3525"/>
                  <a:pt x="7874" y="3413"/>
                  <a:pt x="7794" y="3319"/>
                </a:cubicBezTo>
                <a:cubicBezTo>
                  <a:pt x="7713" y="3224"/>
                  <a:pt x="7615" y="3173"/>
                  <a:pt x="7499" y="3167"/>
                </a:cubicBezTo>
                <a:moveTo>
                  <a:pt x="833" y="7560"/>
                </a:moveTo>
                <a:lnTo>
                  <a:pt x="833" y="4632"/>
                </a:lnTo>
                <a:lnTo>
                  <a:pt x="0" y="4632"/>
                </a:lnTo>
                <a:lnTo>
                  <a:pt x="0" y="7560"/>
                </a:lnTo>
                <a:lnTo>
                  <a:pt x="833" y="7560"/>
                </a:lnTo>
                <a:moveTo>
                  <a:pt x="9165" y="7560"/>
                </a:moveTo>
                <a:lnTo>
                  <a:pt x="9165" y="4632"/>
                </a:lnTo>
                <a:lnTo>
                  <a:pt x="9998" y="4632"/>
                </a:lnTo>
                <a:lnTo>
                  <a:pt x="9998" y="7560"/>
                </a:lnTo>
                <a:lnTo>
                  <a:pt x="9165" y="7560"/>
                </a:lnTo>
                <a:moveTo>
                  <a:pt x="3749" y="6828"/>
                </a:moveTo>
                <a:cubicBezTo>
                  <a:pt x="3921" y="6834"/>
                  <a:pt x="4069" y="6765"/>
                  <a:pt x="4191" y="6623"/>
                </a:cubicBezTo>
                <a:cubicBezTo>
                  <a:pt x="4313" y="6479"/>
                  <a:pt x="4374" y="6305"/>
                  <a:pt x="4374" y="6101"/>
                </a:cubicBezTo>
                <a:cubicBezTo>
                  <a:pt x="4374" y="5895"/>
                  <a:pt x="4313" y="5721"/>
                  <a:pt x="4191" y="5578"/>
                </a:cubicBezTo>
                <a:cubicBezTo>
                  <a:pt x="4069" y="5435"/>
                  <a:pt x="3921" y="5365"/>
                  <a:pt x="3749" y="5368"/>
                </a:cubicBezTo>
                <a:cubicBezTo>
                  <a:pt x="3577" y="5371"/>
                  <a:pt x="3430" y="5443"/>
                  <a:pt x="3308" y="5583"/>
                </a:cubicBezTo>
                <a:cubicBezTo>
                  <a:pt x="3185" y="5723"/>
                  <a:pt x="3124" y="5895"/>
                  <a:pt x="3124" y="6101"/>
                </a:cubicBezTo>
                <a:cubicBezTo>
                  <a:pt x="3124" y="6305"/>
                  <a:pt x="3185" y="6478"/>
                  <a:pt x="3308" y="6618"/>
                </a:cubicBezTo>
                <a:cubicBezTo>
                  <a:pt x="3430" y="6758"/>
                  <a:pt x="3577" y="6828"/>
                  <a:pt x="3749" y="6828"/>
                </a:cubicBezTo>
                <a:moveTo>
                  <a:pt x="6249" y="6828"/>
                </a:moveTo>
                <a:cubicBezTo>
                  <a:pt x="6421" y="6828"/>
                  <a:pt x="6568" y="6758"/>
                  <a:pt x="6690" y="6618"/>
                </a:cubicBezTo>
                <a:cubicBezTo>
                  <a:pt x="6812" y="6478"/>
                  <a:pt x="6874" y="6305"/>
                  <a:pt x="6874" y="6101"/>
                </a:cubicBezTo>
                <a:cubicBezTo>
                  <a:pt x="6874" y="5895"/>
                  <a:pt x="6812" y="5721"/>
                  <a:pt x="6690" y="5578"/>
                </a:cubicBezTo>
                <a:cubicBezTo>
                  <a:pt x="6568" y="5435"/>
                  <a:pt x="6421" y="5365"/>
                  <a:pt x="6249" y="5368"/>
                </a:cubicBezTo>
                <a:cubicBezTo>
                  <a:pt x="6076" y="5371"/>
                  <a:pt x="5929" y="5443"/>
                  <a:pt x="5807" y="5583"/>
                </a:cubicBezTo>
                <a:cubicBezTo>
                  <a:pt x="5685" y="5723"/>
                  <a:pt x="5624" y="5895"/>
                  <a:pt x="5624" y="6101"/>
                </a:cubicBezTo>
                <a:cubicBezTo>
                  <a:pt x="5624" y="6305"/>
                  <a:pt x="5685" y="6478"/>
                  <a:pt x="5807" y="6618"/>
                </a:cubicBezTo>
                <a:cubicBezTo>
                  <a:pt x="5929" y="6758"/>
                  <a:pt x="6076" y="6828"/>
                  <a:pt x="6249" y="6828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name="TextBox 31" id="31"/>
          <p:cNvSpPr txBox="true"/>
          <p:nvPr/>
        </p:nvSpPr>
        <p:spPr>
          <a:xfrm flipH="false" flipV="false" rot="0">
            <a:off x="6370632" y="5048846"/>
            <a:ext cx="516126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Q4 啟動 AI 數據準備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 flipH="false" flipV="false" rot="0">
            <a:off x="6370632" y="5397401"/>
            <a:ext cx="5361234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square" lIns="0" rIns="0" tIns="0" bIns="0" vert="horz"/>
          <a:lstStyle/>
          <a:p>
            <a:pPr algn="l">
              <a:defRPr/>
            </a:pPr>
            <a:r>
              <a:rPr lang="en-US"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梳理歷史 EDI 異常數據並建立標準化標籤庫，為明年導入 AI 智能客服與缺貨預測模型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沉澱訓練數據。</a:t>
            </a:r>
            <a:endParaRPr/>
          </a:p>
        </p:txBody>
      </p:sp>
      <p:sp>
        <p:nvSpPr>
          <p:cNvPr name="AutoShape 33" id="33"/>
          <p:cNvSpPr/>
          <p:nvPr/>
        </p:nvSpPr>
        <p:spPr>
          <a:xfrm flipH="false" flipV="false" rot="0">
            <a:off x="6370632" y="5937945"/>
            <a:ext cx="516126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TextBox 34" id="34"/>
          <p:cNvSpPr txBox="true"/>
          <p:nvPr/>
        </p:nvSpPr>
        <p:spPr>
          <a:xfrm flipH="false" flipV="false" rot="0">
            <a:off x="6370632" y="6014145"/>
            <a:ext cx="5161260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AI 蓄力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0"/>
          </a:blip>
          <a:srcRect l="0" r="0" t="0" b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name="AutoShape 3" id="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4117"/>
            </a:srgbClr>
          </a:solidFill>
          <a:ln>
            <a:headEnd type="none"/>
            <a:tailEnd type="none"/>
          </a:ln>
        </p:spPr>
      </p:sp>
      <p:sp>
        <p:nvSpPr>
          <p:cNvPr name="TextBox 4" id="4"/>
          <p:cNvSpPr txBox="true"/>
          <p:nvPr/>
        </p:nvSpPr>
        <p:spPr>
          <a:xfrm flipH="false" flipV="false" rot="0">
            <a:off x="5212146" y="2197447"/>
            <a:ext cx="697680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false" wrap="none" lIns="0" rIns="0" tIns="0" bIns="0" vert="horz"/>
          <a:lstStyle/>
          <a:p>
            <a:pPr algn="l">
              <a:defRPr/>
            </a:pPr>
            <a:r>
              <a:rPr lang="en-US" b="false" i="false" strike="noStrike" sz="900">
                <a:ln/>
                <a:solidFill>
                  <a:srgbClr val="F1F3F5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2026 Q3 IT Work Report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 flipH="false" flipV="false" rot="0">
            <a:off x="2349557" y="2654647"/>
            <a:ext cx="7489838" cy="79623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rtlCol="false" anchorCtr="true" wrap="none" lIns="0" rIns="0" tIns="0" bIns="0" vert="horz"/>
          <a:lstStyle/>
          <a:p>
            <a:pPr algn="ctr">
              <a:defRPr/>
            </a:pPr>
            <a:r>
              <a:rPr lang="en-US" b="true" i="false" strike="noStrike" sz="57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感謝聆聽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flipH="false" flipV="false" rot="0">
            <a:off x="5865933" y="3717578"/>
            <a:ext cx="457086" cy="9525"/>
          </a:xfrm>
          <a:prstGeom prst="rect">
            <a:avLst/>
          </a:prstGeom>
          <a:solidFill>
            <a:srgbClr val="5B8CB8">
              <a:alpha val="70196"/>
            </a:srgbClr>
          </a:solidFill>
          <a:ln>
            <a:headEnd type="none"/>
            <a:tailEnd type="none"/>
          </a:ln>
        </p:spPr>
      </p:sp>
      <p:sp>
        <p:nvSpPr>
          <p:cNvPr name="TextBox 7" id="7"/>
          <p:cNvSpPr txBox="true"/>
          <p:nvPr/>
        </p:nvSpPr>
        <p:spPr>
          <a:xfrm flipH="false" flipV="false" rot="0">
            <a:off x="1957419" y="3993803"/>
            <a:ext cx="8274115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rtlCol="false" anchorCtr="true" wrap="none" lIns="0" rIns="0" tIns="0" bIns="0" vert="horz"/>
          <a:lstStyle/>
          <a:p>
            <a:pPr algn="ctr">
              <a:defRPr/>
            </a:pPr>
            <a:r>
              <a:rPr lang="en-US" b="false" i="false" strike="noStrike" sz="15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從被動響應到主動賦能，IT驅動全球供應鏈無縫擴張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 flipH="false" flipV="false" rot="0">
            <a:off x="2596774" y="4451003"/>
            <a:ext cx="6995405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rtlCol="false" anchorCtr="true" wrap="none" lIns="0" rIns="0" tIns="0" bIns="0" vert="horz"/>
          <a:lstStyle/>
          <a:p>
            <a:pPr algn="ctr">
              <a:defRPr/>
            </a:pPr>
            <a:r>
              <a:rPr lang="en-US" b="false" i="false" strike="noStrike" sz="1100">
                <a:ln/>
                <a:solidFill>
                  <a:srgbClr val="F1F3F5">
                    <a:alpha val="4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EDI BuySell 新系統升級專案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