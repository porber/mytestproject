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sldIdLst>
    <p:sldId id="2147377298" r:id="rId5"/>
    <p:sldId id="2147377301" r:id="rId6"/>
    <p:sldId id="2147377304" r:id="rId7"/>
    <p:sldId id="2147377302" r:id="rId8"/>
    <p:sldId id="2147377303" r:id="rId9"/>
    <p:sldId id="2147377305" r:id="rId10"/>
    <p:sldId id="2147377306" r:id="rId11"/>
    <p:sldId id="2147377307" r:id="rId12"/>
    <p:sldId id="2147377299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CFF"/>
    <a:srgbClr val="FFFFFF"/>
    <a:srgbClr val="FA574F"/>
    <a:srgbClr val="EF5149"/>
    <a:srgbClr val="4BE0FF"/>
    <a:srgbClr val="002A88"/>
    <a:srgbClr val="3799E2"/>
    <a:srgbClr val="0052A3"/>
    <a:srgbClr val="FC0B25"/>
    <a:srgbClr val="2A8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CD905E-94C5-4F77-9ED1-DE9DA9202A20}" v="2" dt="2026-01-02T07:33:59.335"/>
    <p1510:client id="{B1C7E321-E40A-D741-BA6A-5AE15667B7AE}" v="7" dt="2026-01-02T07:28:47.8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36" autoAdjust="0"/>
    <p:restoredTop sz="94658"/>
  </p:normalViewPr>
  <p:slideViewPr>
    <p:cSldViewPr snapToGrid="0">
      <p:cViewPr varScale="1">
        <p:scale>
          <a:sx n="93" d="100"/>
          <a:sy n="93" d="100"/>
        </p:scale>
        <p:origin x="84" y="456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9B53B-620E-3D4A-87BE-77D1486708AD}" type="datetimeFigureOut">
              <a:rPr kumimoji="1" lang="zh-TW" altLang="en-US" smtClean="0"/>
              <a:t>2026/9/11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22C8B-D4FA-6746-A76A-77494DE74E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5279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96126" indent="-296126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kumimoji="1" lang="zh-TW" altLang="en-US" b="1" spc="104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0CC0CC-13C6-4CBF-B31C-E993F1DC339E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761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96126" indent="-296126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kumimoji="1" lang="zh-TW" altLang="en-US" b="1" spc="104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0CC0CC-13C6-4CBF-B31C-E993F1DC339E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761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older 6">
            <a:extLst>
              <a:ext uri="{FF2B5EF4-FFF2-40B4-BE49-F238E27FC236}">
                <a16:creationId xmlns:a16="http://schemas.microsoft.com/office/drawing/2014/main" id="{1BF1F709-AF7C-32F1-88D2-4238A3177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9AA4576D-EC9D-A626-AC93-C9C7582E1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F60B97-D549-7C3B-256E-77C5BC42DF87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鴻海精密工業股份有限公司 著作權所有。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4" name="圖形 3">
            <a:extLst>
              <a:ext uri="{FF2B5EF4-FFF2-40B4-BE49-F238E27FC236}">
                <a16:creationId xmlns:a16="http://schemas.microsoft.com/office/drawing/2014/main" id="{50B98B51-0193-FC2B-10F5-1036A47724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84575" y="5897041"/>
            <a:ext cx="2077418" cy="201336"/>
          </a:xfrm>
          <a:prstGeom prst="rect">
            <a:avLst/>
          </a:prstGeom>
        </p:spPr>
      </p:pic>
      <p:pic>
        <p:nvPicPr>
          <p:cNvPr id="6" name="圖片 5" descr="一張含有 文字, 字型, 圖形, 設計 的圖片&#10;&#10;自動產生的描述">
            <a:extLst>
              <a:ext uri="{FF2B5EF4-FFF2-40B4-BE49-F238E27FC236}">
                <a16:creationId xmlns:a16="http://schemas.microsoft.com/office/drawing/2014/main" id="{6202D3D0-B15B-C250-D61C-8D791501B2E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4" t="14769" r="17713" b="15865"/>
          <a:stretch>
            <a:fillRect/>
          </a:stretch>
        </p:blipFill>
        <p:spPr>
          <a:xfrm>
            <a:off x="11321667" y="304800"/>
            <a:ext cx="552832" cy="66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8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6">
            <a:extLst>
              <a:ext uri="{FF2B5EF4-FFF2-40B4-BE49-F238E27FC236}">
                <a16:creationId xmlns:a16="http://schemas.microsoft.com/office/drawing/2014/main" id="{3236ABEE-4E58-D48F-B893-E61F0F061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FB9B155A-A2D7-15E5-B048-24902A3F1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標題 5">
            <a:extLst>
              <a:ext uri="{FF2B5EF4-FFF2-40B4-BE49-F238E27FC236}">
                <a16:creationId xmlns:a16="http://schemas.microsoft.com/office/drawing/2014/main" id="{C442EFAA-AD1F-DE8F-60F4-4D0F467464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6669" y="313930"/>
            <a:ext cx="1908670" cy="7702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TW" altLang="en-US" sz="4000" b="1" i="0" kern="1200" spc="300" baseline="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JhengHei" charset="-120"/>
              </a:defRPr>
            </a:lvl1pPr>
          </a:lstStyle>
          <a:p>
            <a:pPr marL="12700">
              <a:spcBef>
                <a:spcPts val="100"/>
              </a:spcBef>
              <a:buClr>
                <a:srgbClr val="0F67AE"/>
              </a:buClr>
              <a:buSzPct val="110000"/>
              <a:tabLst>
                <a:tab pos="5106988" algn="l"/>
              </a:tabLst>
              <a:defRPr/>
            </a:pPr>
            <a:r>
              <a:rPr lang="zh-TW" altLang="en-US" sz="4400" spc="300" dirty="0">
                <a:solidFill>
                  <a:prstClr val="white"/>
                </a:solidFill>
                <a:cs typeface="Microsoft JhengHei" charset="-120"/>
              </a:rPr>
              <a:t>目錄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93BC5F-58BE-FC50-17E4-70CC838CD824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鴻海精密工業股份有限公司 著作權所有。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F3E9243-2B8F-44F4-108B-D759BF7969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38917" y="1834807"/>
            <a:ext cx="4570617" cy="271069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ts val="4000"/>
              </a:lnSpc>
              <a:buClr>
                <a:srgbClr val="FA574F"/>
              </a:buClr>
              <a:buFont typeface="+mj-lt"/>
              <a:buAutoNum type="arabicPeriod"/>
              <a:defRPr sz="28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  <a:endParaRPr lang="en-US" altLang="zh-TW" dirty="0"/>
          </a:p>
          <a:p>
            <a:pPr lvl="0"/>
            <a:endParaRPr lang="zh-TW" altLang="en-US" dirty="0"/>
          </a:p>
        </p:txBody>
      </p:sp>
      <p:pic>
        <p:nvPicPr>
          <p:cNvPr id="12" name="圖片 11" descr="一張含有 文字, 字型, 圖形, 設計 的圖片&#10;&#10;自動產生的描述">
            <a:extLst>
              <a:ext uri="{FF2B5EF4-FFF2-40B4-BE49-F238E27FC236}">
                <a16:creationId xmlns:a16="http://schemas.microsoft.com/office/drawing/2014/main" id="{CDB8786A-31D4-3893-157E-81FCF41E11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4" t="14769" r="17713" b="15865"/>
          <a:stretch>
            <a:fillRect/>
          </a:stretch>
        </p:blipFill>
        <p:spPr>
          <a:xfrm>
            <a:off x="11321667" y="304800"/>
            <a:ext cx="552832" cy="66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5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1347969B-EC41-E354-4D53-4B4FAF31E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91" y="2472433"/>
            <a:ext cx="10732615" cy="770259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54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828E5E-4006-893E-605D-E17EDFAAF122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2025 </a:t>
            </a:r>
            <a:r>
              <a:rPr lang="zh-TW" altLang="en-US" sz="1000" spc="-3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鴻海精密工業股份有限公司 著作權所有。</a:t>
            </a:r>
            <a:r>
              <a:rPr lang="en-US" altLang="zh-TW" sz="1000" spc="-3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" altLang="zh-TW" sz="1000" spc="-3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1438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828E5E-4006-893E-605D-E17EDFAAF122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2025 </a:t>
            </a:r>
            <a:r>
              <a:rPr lang="zh-TW" altLang="en-US" sz="1000" spc="-3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鴻海精密工業股份有限公司 著作權所有。</a:t>
            </a:r>
            <a:r>
              <a:rPr lang="en-US" altLang="zh-TW" sz="1000" spc="-3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" altLang="zh-TW" sz="1000" spc="-3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1A87797-E1D1-4184-55CA-D900EB915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2" y="1449149"/>
            <a:ext cx="4003176" cy="395970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0" baseline="0" dirty="0">
                <a:solidFill>
                  <a:schemeClr val="bg1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019652C-E460-F7FD-385F-3E9B2E3F96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97463" y="820001"/>
            <a:ext cx="6535737" cy="53442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  <a:endParaRPr lang="en-US" altLang="zh-TW" dirty="0"/>
          </a:p>
          <a:p>
            <a:pPr lvl="1"/>
            <a:r>
              <a:rPr lang="zh-TW" altLang="en-US" dirty="0"/>
              <a:t> 第二層</a:t>
            </a:r>
            <a:endParaRPr lang="en-US" altLang="zh-TW" dirty="0"/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463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828E5E-4006-893E-605D-E17EDFAAF122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2025 </a:t>
            </a:r>
            <a:r>
              <a:rPr lang="zh-TW" altLang="en-US" sz="1000" spc="-3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鴻海精密工業股份有限公司 著作權所有。</a:t>
            </a:r>
            <a:r>
              <a:rPr lang="en-US" altLang="zh-TW" sz="1000" spc="-3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" altLang="zh-TW" sz="1000" spc="-3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1A87797-E1D1-4184-55CA-D900EB915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2" y="1449149"/>
            <a:ext cx="4003176" cy="395970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0" baseline="0" dirty="0">
                <a:solidFill>
                  <a:schemeClr val="bg1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1C764D5B-4853-C564-6B63-91C0C78ABD01}"/>
              </a:ext>
            </a:extLst>
          </p:cNvPr>
          <p:cNvSpPr>
            <a:spLocks noGrp="1"/>
          </p:cNvSpPr>
          <p:nvPr>
            <p:ph type="clipArt" sz="quarter" idx="11" hasCustomPrompt="1"/>
          </p:nvPr>
        </p:nvSpPr>
        <p:spPr>
          <a:xfrm>
            <a:off x="5097463" y="820001"/>
            <a:ext cx="6535737" cy="53019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圖片</a:t>
            </a:r>
          </a:p>
        </p:txBody>
      </p:sp>
    </p:spTree>
    <p:extLst>
      <p:ext uri="{BB962C8B-B14F-4D97-AF65-F5344CB8AC3E}">
        <p14:creationId xmlns:p14="http://schemas.microsoft.com/office/powerpoint/2010/main" val="2727223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828E5E-4006-893E-605D-E17EDFAAF122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2025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鴻海精密工業股份有限公司 著作權所有。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1C764D5B-4853-C564-6B63-91C0C78ABD01}"/>
              </a:ext>
            </a:extLst>
          </p:cNvPr>
          <p:cNvSpPr>
            <a:spLocks noGrp="1"/>
          </p:cNvSpPr>
          <p:nvPr>
            <p:ph type="clipArt" sz="quarter" idx="11" hasCustomPrompt="1"/>
          </p:nvPr>
        </p:nvSpPr>
        <p:spPr>
          <a:xfrm>
            <a:off x="5097463" y="820001"/>
            <a:ext cx="6535737" cy="53019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圖片</a:t>
            </a: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B5826FFA-4636-58C6-F8C2-C6EED25E78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2" y="820001"/>
            <a:ext cx="4003176" cy="259791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0" baseline="0" dirty="0">
                <a:solidFill>
                  <a:schemeClr val="bg1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A1BA8FC-B06A-7AC6-41C0-90498089D4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0250" y="3801946"/>
            <a:ext cx="4002088" cy="1260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01917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80C139-D4E9-CA82-0435-8DB832006FA3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鴻海精密工業股份有限公司 著作權所有。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041C1-F23F-8759-86C7-D00CA764822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8676" y="1489165"/>
            <a:ext cx="6578601" cy="4687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  <a:endParaRPr lang="en-US" altLang="zh-TW" dirty="0"/>
          </a:p>
          <a:p>
            <a:pPr lvl="1"/>
            <a:r>
              <a:rPr lang="zh-TW" altLang="en-US" dirty="0"/>
              <a:t> 第二層</a:t>
            </a:r>
            <a:endParaRPr lang="en-US" altLang="zh-TW" dirty="0"/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  <a:endParaRPr lang="en-US" altLang="zh-TW" dirty="0"/>
          </a:p>
        </p:txBody>
      </p:sp>
      <p:sp>
        <p:nvSpPr>
          <p:cNvPr id="5" name="Online Image Placeholder 5">
            <a:extLst>
              <a:ext uri="{FF2B5EF4-FFF2-40B4-BE49-F238E27FC236}">
                <a16:creationId xmlns:a16="http://schemas.microsoft.com/office/drawing/2014/main" id="{800287A8-5609-7BD7-B2AB-4023B460F2D4}"/>
              </a:ext>
            </a:extLst>
          </p:cNvPr>
          <p:cNvSpPr>
            <a:spLocks noGrp="1"/>
          </p:cNvSpPr>
          <p:nvPr>
            <p:ph type="clipArt" sz="quarter" idx="11" hasCustomPrompt="1"/>
          </p:nvPr>
        </p:nvSpPr>
        <p:spPr>
          <a:xfrm>
            <a:off x="7395877" y="1489075"/>
            <a:ext cx="4197350" cy="4687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圖片</a:t>
            </a:r>
          </a:p>
        </p:txBody>
      </p:sp>
      <p:pic>
        <p:nvPicPr>
          <p:cNvPr id="8" name="圖片 7" descr="一張含有 文字, 字型, 圖形, 設計 的圖片&#10;&#10;自動產生的描述">
            <a:extLst>
              <a:ext uri="{FF2B5EF4-FFF2-40B4-BE49-F238E27FC236}">
                <a16:creationId xmlns:a16="http://schemas.microsoft.com/office/drawing/2014/main" id="{2C5AB3E2-FCF0-364C-52C4-B875270A09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4" t="14769" r="17713" b="15865"/>
          <a:stretch>
            <a:fillRect/>
          </a:stretch>
        </p:blipFill>
        <p:spPr>
          <a:xfrm>
            <a:off x="11321667" y="304800"/>
            <a:ext cx="552832" cy="66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0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80C139-D4E9-CA82-0435-8DB832006FA3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鴻海精密工業股份有限公司 著作權所有。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5D557D1F-EA7F-3D0D-5BBD-B67B656B5E66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88677" y="1473200"/>
            <a:ext cx="11004550" cy="46796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表格</a:t>
            </a:r>
          </a:p>
        </p:txBody>
      </p:sp>
      <p:pic>
        <p:nvPicPr>
          <p:cNvPr id="5" name="圖片 4" descr="一張含有 文字, 字型, 圖形, 設計 的圖片&#10;&#10;自動產生的描述">
            <a:extLst>
              <a:ext uri="{FF2B5EF4-FFF2-40B4-BE49-F238E27FC236}">
                <a16:creationId xmlns:a16="http://schemas.microsoft.com/office/drawing/2014/main" id="{8BF7C900-54FA-2783-DFFB-C03808C5C4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4" t="14769" r="17713" b="15865"/>
          <a:stretch>
            <a:fillRect/>
          </a:stretch>
        </p:blipFill>
        <p:spPr>
          <a:xfrm>
            <a:off x="11321667" y="304800"/>
            <a:ext cx="552832" cy="66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80C139-D4E9-CA82-0435-8DB832006FA3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鴻海精密工業股份有限公司 著作權所有。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09656B9-3047-0DED-7582-6120AB5584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9232" y="1489165"/>
            <a:ext cx="5537201" cy="4687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  <a:endParaRPr lang="en-US" altLang="zh-TW" dirty="0"/>
          </a:p>
          <a:p>
            <a:pPr lvl="1"/>
            <a:r>
              <a:rPr lang="en-US" altLang="zh-TW" dirty="0"/>
              <a:t> </a:t>
            </a:r>
            <a:r>
              <a:rPr lang="zh-TW" altLang="en-US" dirty="0"/>
              <a:t>第二層</a:t>
            </a:r>
            <a:endParaRPr lang="en-US" altLang="zh-TW" dirty="0"/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  <a:endParaRPr lang="en-US" altLang="zh-TW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3091401-7491-337F-6685-9E23690199F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80433" y="1489165"/>
            <a:ext cx="5212794" cy="4687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  <a:endParaRPr lang="en-US" altLang="zh-TW" dirty="0"/>
          </a:p>
          <a:p>
            <a:pPr lvl="1"/>
            <a:r>
              <a:rPr lang="en-US" altLang="zh-TW" dirty="0"/>
              <a:t> </a:t>
            </a:r>
            <a:r>
              <a:rPr lang="zh-TW" altLang="en-US" dirty="0"/>
              <a:t>第二層</a:t>
            </a:r>
            <a:endParaRPr lang="en-US" altLang="zh-TW" dirty="0"/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  <a:endParaRPr lang="en-US" altLang="zh-TW" dirty="0"/>
          </a:p>
        </p:txBody>
      </p:sp>
      <p:pic>
        <p:nvPicPr>
          <p:cNvPr id="4" name="圖片 3" descr="一張含有 文字, 字型, 圖形, 設計 的圖片&#10;&#10;自動產生的描述">
            <a:extLst>
              <a:ext uri="{FF2B5EF4-FFF2-40B4-BE49-F238E27FC236}">
                <a16:creationId xmlns:a16="http://schemas.microsoft.com/office/drawing/2014/main" id="{F12BA78A-C494-B736-013F-B23FED7E8A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4" t="14769" r="17713" b="15865"/>
          <a:stretch>
            <a:fillRect/>
          </a:stretch>
        </p:blipFill>
        <p:spPr>
          <a:xfrm>
            <a:off x="11321667" y="304800"/>
            <a:ext cx="552832" cy="66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737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1710FAA-46A7-344E-82D6-1E7B2592B1B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9433" y="1489166"/>
            <a:ext cx="11003794" cy="4687797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itchFamily="2" charset="2"/>
              <a:buChar char="n"/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80C139-D4E9-CA82-0435-8DB832006FA3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鴻海精密工業股份有限公司 著作權所有。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4" name="圖片 3" descr="一張含有 文字, 字型, 圖形, 設計 的圖片&#10;&#10;自動產生的描述">
            <a:extLst>
              <a:ext uri="{FF2B5EF4-FFF2-40B4-BE49-F238E27FC236}">
                <a16:creationId xmlns:a16="http://schemas.microsoft.com/office/drawing/2014/main" id="{635E4BFF-3637-6822-9D3D-DE388921CB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4" t="14769" r="17713" b="15865"/>
          <a:stretch>
            <a:fillRect/>
          </a:stretch>
        </p:blipFill>
        <p:spPr>
          <a:xfrm>
            <a:off x="11321667" y="304800"/>
            <a:ext cx="552832" cy="66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30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200" baseline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80C139-D4E9-CA82-0435-8DB832006FA3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鴻海精密工業股份有限公司 著作權所有。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BD52D6B3-5DDD-5511-69C0-4996E929622A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4433299" y="1473200"/>
            <a:ext cx="7159928" cy="46796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表格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68F3392-49F0-E568-3A03-F9360D8AD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89433" y="1473200"/>
            <a:ext cx="3624263" cy="4686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  <a:endParaRPr lang="en-US" altLang="zh-TW" dirty="0"/>
          </a:p>
          <a:p>
            <a:pPr lvl="1"/>
            <a:r>
              <a:rPr lang="zh-TW" altLang="en-US" dirty="0"/>
              <a:t> 第二層</a:t>
            </a:r>
            <a:endParaRPr lang="en-US" altLang="zh-TW" dirty="0"/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  <a:endParaRPr lang="en-US" altLang="zh-TW" dirty="0"/>
          </a:p>
        </p:txBody>
      </p:sp>
      <p:pic>
        <p:nvPicPr>
          <p:cNvPr id="8" name="圖片 7" descr="一張含有 文字, 字型, 圖形, 設計 的圖片&#10;&#10;自動產生的描述">
            <a:extLst>
              <a:ext uri="{FF2B5EF4-FFF2-40B4-BE49-F238E27FC236}">
                <a16:creationId xmlns:a16="http://schemas.microsoft.com/office/drawing/2014/main" id="{978C096D-CBCC-BF9B-4E97-812EAC6BCD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4" t="14769" r="17713" b="15865"/>
          <a:stretch>
            <a:fillRect/>
          </a:stretch>
        </p:blipFill>
        <p:spPr>
          <a:xfrm>
            <a:off x="11321667" y="304800"/>
            <a:ext cx="552832" cy="66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字型, 圖形, 設計 的圖片&#10;&#10;自動產生的描述">
            <a:extLst>
              <a:ext uri="{FF2B5EF4-FFF2-40B4-BE49-F238E27FC236}">
                <a16:creationId xmlns:a16="http://schemas.microsoft.com/office/drawing/2014/main" id="{88199150-5B85-EB88-FE34-B5E7CCE0FD3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4" t="14769" r="17713" b="15865"/>
          <a:stretch>
            <a:fillRect/>
          </a:stretch>
        </p:blipFill>
        <p:spPr>
          <a:xfrm>
            <a:off x="11321667" y="304800"/>
            <a:ext cx="552832" cy="6683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C3111D3-05AB-664D-9388-4B15D473D43F}"/>
              </a:ext>
            </a:extLst>
          </p:cNvPr>
          <p:cNvSpPr/>
          <p:nvPr userDrawn="1"/>
        </p:nvSpPr>
        <p:spPr>
          <a:xfrm>
            <a:off x="272710" y="6505426"/>
            <a:ext cx="7284640" cy="11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fontAlgn="auto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</a:t>
            </a:r>
            <a:r>
              <a:rPr lang="zh-TW" altLang="en-US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鴻海精密工業股份有限公司 著作權所有。</a:t>
            </a:r>
            <a:r>
              <a:rPr lang="en-US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" altLang="zh-TW" sz="1000" spc="-3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75" r:id="rId4"/>
    <p:sldLayoutId id="2147483676" r:id="rId5"/>
    <p:sldLayoutId id="2147483677" r:id="rId6"/>
    <p:sldLayoutId id="2147483669" r:id="rId7"/>
    <p:sldLayoutId id="2147483674" r:id="rId8"/>
    <p:sldLayoutId id="2147483678" r:id="rId9"/>
    <p:sldLayoutId id="2147483679" r:id="rId10"/>
    <p:sldLayoutId id="2147483680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6">
            <a:extLst>
              <a:ext uri="{FF2B5EF4-FFF2-40B4-BE49-F238E27FC236}">
                <a16:creationId xmlns:a16="http://schemas.microsoft.com/office/drawing/2014/main" id="{286EAC1A-421E-A5ED-4030-11330F63A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1</a:t>
            </a:fld>
            <a:r>
              <a:rPr lang="en-US" altLang="zh-TW"/>
              <a:t> /</a:t>
            </a:r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8FEC7AA5-A1A3-B470-80B9-3C59CE3E8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F692425-7112-4EE8-761A-E1EC186AD612}"/>
              </a:ext>
            </a:extLst>
          </p:cNvPr>
          <p:cNvSpPr txBox="1"/>
          <p:nvPr/>
        </p:nvSpPr>
        <p:spPr>
          <a:xfrm>
            <a:off x="1855762" y="2253647"/>
            <a:ext cx="93309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u="none" strike="noStrike" kern="1200" cap="none" spc="10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HON HAI TECHNOLOGY GROUP</a:t>
            </a:r>
            <a:endParaRPr lang="en" altLang="zh-TW" sz="2000" b="1" spc="100" dirty="0">
              <a:solidFill>
                <a:srgbClr val="FFFFFF"/>
              </a:solidFill>
              <a:latin typeface="Arial" panose="020B0604020202020204" pitchFamily="34" charset="0"/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A596B733-61CF-E7EF-8094-6B58843C81C8}"/>
              </a:ext>
            </a:extLst>
          </p:cNvPr>
          <p:cNvSpPr txBox="1"/>
          <p:nvPr/>
        </p:nvSpPr>
        <p:spPr>
          <a:xfrm>
            <a:off x="1924425" y="2637171"/>
            <a:ext cx="9330971" cy="1107996"/>
          </a:xfrm>
          <a:prstGeom prst="rect">
            <a:avLst/>
          </a:prstGeom>
          <a:ln w="12700">
            <a:miter lim="400000"/>
          </a:ln>
          <a:effectLst>
            <a:outerShdw blurRad="127000" dist="127000" dir="5400000" sx="112000" sy="112000" algn="t" rotWithShape="0">
              <a:prstClr val="black"/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indent="17445" algn="ctr">
              <a:spcBef>
                <a:spcPts val="100"/>
              </a:spcBef>
              <a:defRPr sz="6000" b="1" spc="782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lvl="0" algn="l">
              <a:defRPr/>
            </a:pPr>
            <a:r>
              <a:rPr lang="en-US" altLang="zh-TW" sz="7200" dirty="0" smtClean="0"/>
              <a:t>2026Q3 </a:t>
            </a:r>
            <a:r>
              <a:rPr lang="en-US" altLang="zh-TW" sz="7200" dirty="0"/>
              <a:t>ITS KPI</a:t>
            </a:r>
            <a:endParaRPr kumimoji="1" lang="zh-TW" altLang="en-US" sz="7200" u="none" strike="noStrike" kern="1200" cap="none" spc="200" normalizeH="0" noProof="0" dirty="0">
              <a:ln w="12700">
                <a:noFill/>
              </a:ln>
              <a:effectLst/>
              <a:uLnTx/>
              <a:uFillTx/>
              <a:latin typeface="YouSheBiaoTiHei" pitchFamily="2" charset="-122"/>
              <a:ea typeface="Microsoft YaHei" panose="020B0503020204020204" pitchFamily="34" charset="-122"/>
              <a:sym typeface="Microsoft YaHei"/>
            </a:endParaRPr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C5FB1F66-FCE6-4F3D-8E80-1CAF783BD1A3}"/>
              </a:ext>
            </a:extLst>
          </p:cNvPr>
          <p:cNvCxnSpPr>
            <a:cxnSpLocks/>
          </p:cNvCxnSpPr>
          <p:nvPr/>
        </p:nvCxnSpPr>
        <p:spPr>
          <a:xfrm>
            <a:off x="1698516" y="2345231"/>
            <a:ext cx="0" cy="193093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4FCCD747-E566-AA23-7370-77D19EB50B65}"/>
              </a:ext>
            </a:extLst>
          </p:cNvPr>
          <p:cNvSpPr txBox="1"/>
          <p:nvPr/>
        </p:nvSpPr>
        <p:spPr>
          <a:xfrm>
            <a:off x="1811567" y="3745167"/>
            <a:ext cx="9443811" cy="656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Speaker</a:t>
            </a:r>
          </a:p>
          <a:p>
            <a:pPr lvl="0" defTabSz="1219170">
              <a:lnSpc>
                <a:spcPts val="2200"/>
              </a:lnSpc>
              <a:defRPr/>
            </a:pPr>
            <a:r>
              <a:rPr lang="en" altLang="zh-TW" sz="1400" dirty="0">
                <a:solidFill>
                  <a:srgbClr val="FFFFFF"/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Sep</a:t>
            </a:r>
            <a:r>
              <a:rPr kumimoji="0" lang="en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. 09, </a:t>
            </a:r>
            <a:r>
              <a:rPr kumimoji="0" lang="en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257047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306791" y="274174"/>
            <a:ext cx="11003794" cy="770259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2</a:t>
            </a:fld>
            <a:r>
              <a:rPr lang="en-US" altLang="zh-TW" dirty="0"/>
              <a:t> /</a:t>
            </a:r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855601F4-FD62-E150-BE99-41E72B40D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271386" y="1090541"/>
            <a:ext cx="20107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要點說明</a:t>
            </a:r>
            <a:r>
              <a:rPr lang="zh-TW" altLang="en-US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：</a:t>
            </a:r>
            <a:endParaRPr lang="en-US" altLang="zh-TW" b="1" dirty="0">
              <a:solidFill>
                <a:schemeClr val="accent4">
                  <a:lumMod val="60000"/>
                  <a:lumOff val="4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6043" y="3788125"/>
            <a:ext cx="20613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參與部門</a:t>
            </a:r>
            <a:r>
              <a:rPr lang="zh-TW" altLang="en-US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：</a:t>
            </a:r>
            <a:endParaRPr lang="en-US" altLang="zh-TW" b="1" dirty="0">
              <a:solidFill>
                <a:schemeClr val="accent4">
                  <a:lumMod val="60000"/>
                  <a:lumOff val="4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7050" y="4692998"/>
            <a:ext cx="24387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主要使用技術：</a:t>
            </a:r>
            <a:endParaRPr lang="en-US" altLang="zh-TW" b="1" dirty="0">
              <a:solidFill>
                <a:schemeClr val="accent4">
                  <a:lumMod val="60000"/>
                  <a:lumOff val="4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  <a:p>
            <a:endParaRPr lang="en-US" altLang="zh-TW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cxnSp>
        <p:nvCxnSpPr>
          <p:cNvPr id="11" name="直線接點 10"/>
          <p:cNvCxnSpPr/>
          <p:nvPr/>
        </p:nvCxnSpPr>
        <p:spPr>
          <a:xfrm>
            <a:off x="2625842" y="1092526"/>
            <a:ext cx="0" cy="5293839"/>
          </a:xfrm>
          <a:prstGeom prst="line">
            <a:avLst/>
          </a:prstGeom>
          <a:ln w="15875" cap="rnd">
            <a:solidFill>
              <a:schemeClr val="bg1">
                <a:lumMod val="65000"/>
              </a:schemeClr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9262183" y="1090541"/>
            <a:ext cx="0" cy="5293839"/>
          </a:xfrm>
          <a:prstGeom prst="line">
            <a:avLst/>
          </a:prstGeom>
          <a:ln w="15875" cap="rnd">
            <a:solidFill>
              <a:schemeClr val="bg1">
                <a:lumMod val="65000"/>
              </a:schemeClr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9268990" y="1270644"/>
            <a:ext cx="28229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改善效益</a:t>
            </a:r>
            <a:r>
              <a:rPr lang="zh-TW" altLang="en-US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：</a:t>
            </a:r>
            <a:endParaRPr lang="en-US" altLang="zh-TW" b="1" dirty="0">
              <a:solidFill>
                <a:schemeClr val="accent4">
                  <a:lumMod val="60000"/>
                  <a:lumOff val="4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268991" y="4011477"/>
            <a:ext cx="2822972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改善目的  </a:t>
            </a:r>
            <a:r>
              <a:rPr lang="en-US" altLang="zh-CN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" pitchFamily="34" charset="-122"/>
                <a:ea typeface="Microsoft YaHei" pitchFamily="34" charset="-122"/>
              </a:rPr>
              <a:t>:</a:t>
            </a:r>
            <a:endParaRPr lang="en-US" altLang="zh-CN" b="1" dirty="0">
              <a:solidFill>
                <a:schemeClr val="accent4">
                  <a:lumMod val="60000"/>
                  <a:lumOff val="40000"/>
                </a:schemeClr>
              </a:solidFill>
              <a:latin typeface="Microsoft YaHei" pitchFamily="34" charset="-122"/>
              <a:ea typeface="Microsoft Ya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3895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861746" y="2729992"/>
            <a:ext cx="11003794" cy="770259"/>
          </a:xfrm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3</a:t>
            </a:fld>
            <a:r>
              <a:rPr lang="en-US" altLang="zh-TW" dirty="0"/>
              <a:t> /</a:t>
            </a:r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855601F4-FD62-E150-BE99-41E72B40D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 dirty="0" smtClean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46590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4</a:t>
            </a:fld>
            <a:r>
              <a:rPr lang="en-US" altLang="zh-TW" dirty="0"/>
              <a:t> /</a:t>
            </a:r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855601F4-FD62-E150-BE99-41E72B40D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36082" y="2964206"/>
            <a:ext cx="3969663" cy="770259"/>
          </a:xfrm>
        </p:spPr>
        <p:txBody>
          <a:bodyPr/>
          <a:lstStyle/>
          <a:p>
            <a:r>
              <a:rPr lang="zh-CN" altLang="en-US" dirty="0"/>
              <a:t>目錄</a:t>
            </a:r>
            <a:endParaRPr lang="zh-TW" altLang="en-US" dirty="0"/>
          </a:p>
        </p:txBody>
      </p:sp>
      <p:sp>
        <p:nvSpPr>
          <p:cNvPr id="14" name="TextBox 3"/>
          <p:cNvSpPr txBox="1"/>
          <p:nvPr/>
        </p:nvSpPr>
        <p:spPr>
          <a:xfrm>
            <a:off x="589433" y="2590133"/>
            <a:ext cx="450732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 dirty="0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3.0 55 Regular"/>
              </a:rPr>
              <a:t>Contents</a:t>
            </a:r>
            <a:endParaRPr lang="en-US" sz="11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AutoShape 6"/>
          <p:cNvSpPr/>
          <p:nvPr/>
        </p:nvSpPr>
        <p:spPr>
          <a:xfrm>
            <a:off x="5421494" y="173161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TextBox 7"/>
          <p:cNvSpPr txBox="1"/>
          <p:nvPr/>
        </p:nvSpPr>
        <p:spPr>
          <a:xfrm>
            <a:off x="5421494" y="136966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 dirty="0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Inter"/>
              </a:rPr>
              <a:t>01</a:t>
            </a:r>
            <a:endParaRPr lang="en-US" sz="11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TextBox 8"/>
          <p:cNvSpPr txBox="1"/>
          <p:nvPr/>
        </p:nvSpPr>
        <p:spPr>
          <a:xfrm>
            <a:off x="5840490" y="130299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 dirty="0" err="1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項目背景與核心要點</a:t>
            </a:r>
            <a:endParaRPr lang="en-US" sz="11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AutoShape 6"/>
          <p:cNvSpPr/>
          <p:nvPr/>
        </p:nvSpPr>
        <p:spPr>
          <a:xfrm>
            <a:off x="5421492" y="274804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TextBox 7"/>
          <p:cNvSpPr txBox="1"/>
          <p:nvPr/>
        </p:nvSpPr>
        <p:spPr>
          <a:xfrm>
            <a:off x="5421492" y="238609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 dirty="0" smtClean="0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Inter"/>
              </a:rPr>
              <a:t>02</a:t>
            </a:r>
            <a:endParaRPr lang="en-US" sz="11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TextBox 8"/>
          <p:cNvSpPr txBox="1"/>
          <p:nvPr/>
        </p:nvSpPr>
        <p:spPr>
          <a:xfrm>
            <a:off x="5840488" y="231942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>
              <a:defRPr/>
            </a:pPr>
            <a:r>
              <a:rPr lang="en-US" altLang="zh-TW" sz="1600" dirty="0" err="1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技術架構與重構方案</a:t>
            </a:r>
            <a:endParaRPr lang="en-US" altLang="zh-TW" sz="9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defRPr/>
            </a:pPr>
            <a:endParaRPr lang="en-US" sz="11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AutoShape 6"/>
          <p:cNvSpPr/>
          <p:nvPr/>
        </p:nvSpPr>
        <p:spPr>
          <a:xfrm>
            <a:off x="5421490" y="397402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TextBox 7"/>
          <p:cNvSpPr txBox="1"/>
          <p:nvPr/>
        </p:nvSpPr>
        <p:spPr>
          <a:xfrm>
            <a:off x="5421490" y="361207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 dirty="0" smtClean="0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Inter"/>
              </a:rPr>
              <a:t>03</a:t>
            </a:r>
            <a:endParaRPr lang="en-US" sz="11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TextBox 8"/>
          <p:cNvSpPr txBox="1"/>
          <p:nvPr/>
        </p:nvSpPr>
        <p:spPr>
          <a:xfrm>
            <a:off x="5840486" y="354540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>
              <a:defRPr/>
            </a:pPr>
            <a:r>
              <a:rPr lang="en-US" altLang="zh-TW" sz="1600" dirty="0" err="1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改善效益與戰略價值</a:t>
            </a:r>
            <a:endParaRPr lang="en-US" altLang="zh-TW" sz="11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AutoShape 6"/>
          <p:cNvSpPr/>
          <p:nvPr/>
        </p:nvSpPr>
        <p:spPr>
          <a:xfrm>
            <a:off x="5421490" y="5231755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TextBox 7"/>
          <p:cNvSpPr txBox="1"/>
          <p:nvPr/>
        </p:nvSpPr>
        <p:spPr>
          <a:xfrm>
            <a:off x="5421490" y="4869805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 dirty="0" smtClean="0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Inter"/>
              </a:rPr>
              <a:t>04</a:t>
            </a:r>
            <a:endParaRPr lang="en-US" sz="11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TextBox 8"/>
          <p:cNvSpPr txBox="1"/>
          <p:nvPr/>
        </p:nvSpPr>
        <p:spPr>
          <a:xfrm>
            <a:off x="5840486" y="4803130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>
              <a:defRPr/>
            </a:pPr>
            <a:r>
              <a:rPr lang="en-US" altLang="zh-TW" sz="1600" dirty="0" err="1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跨部門協同與後續規劃</a:t>
            </a:r>
            <a:endParaRPr lang="en-US" altLang="zh-TW" sz="11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1812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861746" y="2729992"/>
            <a:ext cx="11003794" cy="770259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 err="1">
                <a:ln/>
                <a:solidFill>
                  <a:srgbClr val="F1F3F5">
                    <a:alpha val="100000"/>
                  </a:srgbClr>
                </a:solidFill>
                <a:cs typeface="Alibaba PuHuiTi 3.0 55 Regular"/>
              </a:rPr>
              <a:t>項目背景與核心要點</a:t>
            </a:r>
            <a:r>
              <a:rPr lang="en-US" altLang="zh-TW" sz="900" dirty="0"/>
              <a:t/>
            </a:r>
            <a:br>
              <a:rPr lang="en-US" altLang="zh-TW" sz="900" dirty="0"/>
            </a:br>
            <a:endParaRPr lang="zh-TW" altLang="en-US" dirty="0"/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5</a:t>
            </a:fld>
            <a:r>
              <a:rPr lang="en-US" altLang="zh-TW" dirty="0"/>
              <a:t> /</a:t>
            </a:r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855601F4-FD62-E150-BE99-41E72B40D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12" name="TextBox 4"/>
          <p:cNvSpPr txBox="1"/>
          <p:nvPr/>
        </p:nvSpPr>
        <p:spPr>
          <a:xfrm>
            <a:off x="5141895" y="2282514"/>
            <a:ext cx="2321352" cy="20813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ctr">
              <a:defRPr/>
            </a:pPr>
            <a:r>
              <a:rPr lang="en-US" sz="900" b="0" i="0" strike="noStrike" dirty="0">
                <a:ln/>
                <a:solidFill>
                  <a:srgbClr val="F1F3F5">
                    <a:alpha val="6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3.0 55 Regular"/>
              </a:rPr>
              <a:t>CHAPTER 01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TextBox 6"/>
          <p:cNvSpPr txBox="1"/>
          <p:nvPr/>
        </p:nvSpPr>
        <p:spPr>
          <a:xfrm>
            <a:off x="2268917" y="3572010"/>
            <a:ext cx="8189451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400" b="0" i="0" strike="noStrike" dirty="0" err="1">
                <a:ln/>
                <a:solidFill>
                  <a:srgbClr val="F1F3F5">
                    <a:alpha val="8196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破解十三年技術債，重塑全球供應鏈協同樞紐</a:t>
            </a:r>
            <a:endParaRPr 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7206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32000" y="540000"/>
            <a:ext cx="8671349" cy="675059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n/>
                <a:cs typeface="Alibaba PuHuiTi 3.0 55 Regular"/>
              </a:rPr>
              <a:t>現有系統痛點與技術債分析</a:t>
            </a:r>
            <a:r>
              <a:rPr lang="en-US" altLang="zh-TW" sz="1400" dirty="0"/>
              <a:t/>
            </a:r>
            <a:br>
              <a:rPr lang="en-US" altLang="zh-TW" sz="1400" dirty="0"/>
            </a:br>
            <a:endParaRPr lang="zh-TW" altLang="en-US" dirty="0"/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6</a:t>
            </a:fld>
            <a:r>
              <a:rPr lang="en-US" altLang="zh-TW" dirty="0"/>
              <a:t> /</a:t>
            </a:r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855601F4-FD62-E150-BE99-41E72B40D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523585" y="1700872"/>
            <a:ext cx="5542164" cy="2018407"/>
            <a:chOff x="457086" y="2173486"/>
            <a:chExt cx="5542164" cy="2018407"/>
          </a:xfrm>
        </p:grpSpPr>
        <p:sp>
          <p:nvSpPr>
            <p:cNvPr id="12" name="AutoShape 7"/>
            <p:cNvSpPr/>
            <p:nvPr/>
          </p:nvSpPr>
          <p:spPr>
            <a:xfrm>
              <a:off x="457086" y="2173486"/>
              <a:ext cx="5542164" cy="2018407"/>
            </a:xfrm>
            <a:prstGeom prst="rect">
              <a:avLst/>
            </a:prstGeom>
            <a:solidFill>
              <a:srgbClr val="E8EBEF">
                <a:alpha val="100000"/>
              </a:srgbClr>
            </a:solidFill>
            <a:ln w="9525">
              <a:solidFill>
                <a:srgbClr val="C5CDD6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3" name="AutoShape 8"/>
            <p:cNvSpPr/>
            <p:nvPr/>
          </p:nvSpPr>
          <p:spPr>
            <a:xfrm>
              <a:off x="457086" y="2173486"/>
              <a:ext cx="5542164" cy="9525"/>
            </a:xfrm>
            <a:prstGeom prst="line">
              <a:avLst/>
            </a:prstGeom>
            <a:ln w="28575">
              <a:solidFill>
                <a:srgbClr val="5B8CB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4" name="AutoShape 12"/>
            <p:cNvSpPr/>
            <p:nvPr/>
          </p:nvSpPr>
          <p:spPr>
            <a:xfrm>
              <a:off x="695151" y="3973711"/>
              <a:ext cx="5066033" cy="9525"/>
            </a:xfrm>
            <a:prstGeom prst="line">
              <a:avLst/>
            </a:prstGeom>
            <a:ln w="9525">
              <a:solidFill>
                <a:srgbClr val="C5CDD6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grpSp>
        <p:nvGrpSpPr>
          <p:cNvPr id="15" name="组合 14"/>
          <p:cNvGrpSpPr/>
          <p:nvPr/>
        </p:nvGrpSpPr>
        <p:grpSpPr>
          <a:xfrm>
            <a:off x="6303816" y="1700873"/>
            <a:ext cx="5542164" cy="2018407"/>
            <a:chOff x="457086" y="2173486"/>
            <a:chExt cx="5542164" cy="2018407"/>
          </a:xfrm>
        </p:grpSpPr>
        <p:sp>
          <p:nvSpPr>
            <p:cNvPr id="16" name="AutoShape 7"/>
            <p:cNvSpPr/>
            <p:nvPr/>
          </p:nvSpPr>
          <p:spPr>
            <a:xfrm>
              <a:off x="457086" y="2173486"/>
              <a:ext cx="5542164" cy="2018407"/>
            </a:xfrm>
            <a:prstGeom prst="rect">
              <a:avLst/>
            </a:prstGeom>
            <a:solidFill>
              <a:srgbClr val="E8EBEF">
                <a:alpha val="100000"/>
              </a:srgbClr>
            </a:solidFill>
            <a:ln w="9525">
              <a:solidFill>
                <a:srgbClr val="C5CDD6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7" name="AutoShape 8"/>
            <p:cNvSpPr/>
            <p:nvPr/>
          </p:nvSpPr>
          <p:spPr>
            <a:xfrm>
              <a:off x="457086" y="2173486"/>
              <a:ext cx="5542164" cy="9525"/>
            </a:xfrm>
            <a:prstGeom prst="line">
              <a:avLst/>
            </a:prstGeom>
            <a:ln w="28575">
              <a:solidFill>
                <a:srgbClr val="5B8CB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8" name="AutoShape 12"/>
            <p:cNvSpPr/>
            <p:nvPr/>
          </p:nvSpPr>
          <p:spPr>
            <a:xfrm>
              <a:off x="695151" y="3973711"/>
              <a:ext cx="5066033" cy="9525"/>
            </a:xfrm>
            <a:prstGeom prst="line">
              <a:avLst/>
            </a:prstGeom>
            <a:ln w="9525">
              <a:solidFill>
                <a:srgbClr val="C5CDD6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grpSp>
        <p:nvGrpSpPr>
          <p:cNvPr id="19" name="组合 18"/>
          <p:cNvGrpSpPr/>
          <p:nvPr/>
        </p:nvGrpSpPr>
        <p:grpSpPr>
          <a:xfrm>
            <a:off x="523586" y="3935784"/>
            <a:ext cx="5542164" cy="2018407"/>
            <a:chOff x="457086" y="2173486"/>
            <a:chExt cx="5542164" cy="2018407"/>
          </a:xfrm>
        </p:grpSpPr>
        <p:sp>
          <p:nvSpPr>
            <p:cNvPr id="20" name="AutoShape 7"/>
            <p:cNvSpPr/>
            <p:nvPr/>
          </p:nvSpPr>
          <p:spPr>
            <a:xfrm>
              <a:off x="457086" y="2173486"/>
              <a:ext cx="5542164" cy="2018407"/>
            </a:xfrm>
            <a:prstGeom prst="rect">
              <a:avLst/>
            </a:prstGeom>
            <a:solidFill>
              <a:srgbClr val="E8EBEF">
                <a:alpha val="100000"/>
              </a:srgbClr>
            </a:solidFill>
            <a:ln w="9525">
              <a:solidFill>
                <a:srgbClr val="C5CDD6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1" name="AutoShape 8"/>
            <p:cNvSpPr/>
            <p:nvPr/>
          </p:nvSpPr>
          <p:spPr>
            <a:xfrm>
              <a:off x="457086" y="2173486"/>
              <a:ext cx="5542164" cy="9525"/>
            </a:xfrm>
            <a:prstGeom prst="line">
              <a:avLst/>
            </a:prstGeom>
            <a:ln w="28575">
              <a:solidFill>
                <a:srgbClr val="5B8CB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2" name="AutoShape 12"/>
            <p:cNvSpPr/>
            <p:nvPr/>
          </p:nvSpPr>
          <p:spPr>
            <a:xfrm>
              <a:off x="695151" y="3973711"/>
              <a:ext cx="5066033" cy="9525"/>
            </a:xfrm>
            <a:prstGeom prst="line">
              <a:avLst/>
            </a:prstGeom>
            <a:ln w="9525">
              <a:solidFill>
                <a:srgbClr val="C5CDD6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grpSp>
        <p:nvGrpSpPr>
          <p:cNvPr id="23" name="组合 22"/>
          <p:cNvGrpSpPr/>
          <p:nvPr/>
        </p:nvGrpSpPr>
        <p:grpSpPr>
          <a:xfrm>
            <a:off x="6303814" y="3935784"/>
            <a:ext cx="5542164" cy="2018407"/>
            <a:chOff x="457086" y="2173486"/>
            <a:chExt cx="5542164" cy="2018407"/>
          </a:xfrm>
        </p:grpSpPr>
        <p:sp>
          <p:nvSpPr>
            <p:cNvPr id="24" name="AutoShape 7"/>
            <p:cNvSpPr/>
            <p:nvPr/>
          </p:nvSpPr>
          <p:spPr>
            <a:xfrm>
              <a:off x="457086" y="2173486"/>
              <a:ext cx="5542164" cy="2018407"/>
            </a:xfrm>
            <a:prstGeom prst="rect">
              <a:avLst/>
            </a:prstGeom>
            <a:solidFill>
              <a:srgbClr val="E8EBEF">
                <a:alpha val="100000"/>
              </a:srgbClr>
            </a:solidFill>
            <a:ln w="9525">
              <a:solidFill>
                <a:srgbClr val="C5CDD6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5" name="AutoShape 8"/>
            <p:cNvSpPr/>
            <p:nvPr/>
          </p:nvSpPr>
          <p:spPr>
            <a:xfrm>
              <a:off x="457086" y="2173486"/>
              <a:ext cx="5542164" cy="9525"/>
            </a:xfrm>
            <a:prstGeom prst="line">
              <a:avLst/>
            </a:prstGeom>
            <a:ln w="28575">
              <a:solidFill>
                <a:srgbClr val="5B8CB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6" name="AutoShape 12"/>
            <p:cNvSpPr/>
            <p:nvPr/>
          </p:nvSpPr>
          <p:spPr>
            <a:xfrm>
              <a:off x="695151" y="3973711"/>
              <a:ext cx="5066033" cy="9525"/>
            </a:xfrm>
            <a:prstGeom prst="line">
              <a:avLst/>
            </a:prstGeom>
            <a:ln w="9525">
              <a:solidFill>
                <a:srgbClr val="C5CDD6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sp>
        <p:nvSpPr>
          <p:cNvPr id="27" name="AutoShape 9"/>
          <p:cNvSpPr/>
          <p:nvPr/>
        </p:nvSpPr>
        <p:spPr>
          <a:xfrm>
            <a:off x="840031" y="2014362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111" y="1111"/>
                </a:moveTo>
                <a:lnTo>
                  <a:pt x="1111" y="4444"/>
                </a:lnTo>
                <a:lnTo>
                  <a:pt x="8887" y="4444"/>
                </a:lnTo>
                <a:lnTo>
                  <a:pt x="8887" y="1111"/>
                </a:lnTo>
                <a:lnTo>
                  <a:pt x="1111" y="1111"/>
                </a:lnTo>
                <a:moveTo>
                  <a:pt x="9998" y="556"/>
                </a:move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moveTo>
                  <a:pt x="8887" y="8889"/>
                </a:moveTo>
                <a:lnTo>
                  <a:pt x="8887" y="5556"/>
                </a:lnTo>
                <a:lnTo>
                  <a:pt x="1111" y="5556"/>
                </a:lnTo>
                <a:lnTo>
                  <a:pt x="1111" y="8889"/>
                </a:lnTo>
                <a:lnTo>
                  <a:pt x="8887" y="8889"/>
                </a:lnTo>
                <a:moveTo>
                  <a:pt x="2222" y="7778"/>
                </a:moveTo>
                <a:lnTo>
                  <a:pt x="2222" y="6667"/>
                </a:lnTo>
                <a:lnTo>
                  <a:pt x="3888" y="6667"/>
                </a:lnTo>
                <a:lnTo>
                  <a:pt x="3888" y="7778"/>
                </a:lnTo>
                <a:lnTo>
                  <a:pt x="2222" y="7778"/>
                </a:lnTo>
                <a:moveTo>
                  <a:pt x="2222" y="3333"/>
                </a:moveTo>
                <a:lnTo>
                  <a:pt x="2222" y="2222"/>
                </a:lnTo>
                <a:lnTo>
                  <a:pt x="3888" y="2222"/>
                </a:lnTo>
                <a:lnTo>
                  <a:pt x="3888" y="3333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8" name="AutoShape 23"/>
          <p:cNvSpPr/>
          <p:nvPr/>
        </p:nvSpPr>
        <p:spPr>
          <a:xfrm>
            <a:off x="840031" y="4205537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111" y="3853"/>
                </a:moveTo>
                <a:lnTo>
                  <a:pt x="1111" y="5000"/>
                </a:lnTo>
                <a:cubicBezTo>
                  <a:pt x="1111" y="5091"/>
                  <a:pt x="1177" y="5200"/>
                  <a:pt x="1311" y="5326"/>
                </a:cubicBezTo>
                <a:cubicBezTo>
                  <a:pt x="1466" y="5466"/>
                  <a:pt x="1684" y="5603"/>
                  <a:pt x="1966" y="5737"/>
                </a:cubicBezTo>
                <a:cubicBezTo>
                  <a:pt x="2351" y="5919"/>
                  <a:pt x="2807" y="6061"/>
                  <a:pt x="3333" y="6163"/>
                </a:cubicBezTo>
                <a:cubicBezTo>
                  <a:pt x="3858" y="6265"/>
                  <a:pt x="4413" y="6316"/>
                  <a:pt x="4999" y="6316"/>
                </a:cubicBezTo>
                <a:cubicBezTo>
                  <a:pt x="5584" y="6316"/>
                  <a:pt x="6139" y="6265"/>
                  <a:pt x="6665" y="6163"/>
                </a:cubicBezTo>
                <a:cubicBezTo>
                  <a:pt x="7191" y="6061"/>
                  <a:pt x="7646" y="5919"/>
                  <a:pt x="8032" y="5737"/>
                </a:cubicBezTo>
                <a:cubicBezTo>
                  <a:pt x="8313" y="5603"/>
                  <a:pt x="8531" y="5466"/>
                  <a:pt x="8687" y="5326"/>
                </a:cubicBezTo>
                <a:cubicBezTo>
                  <a:pt x="8820" y="5200"/>
                  <a:pt x="8887" y="5091"/>
                  <a:pt x="8887" y="5000"/>
                </a:cubicBezTo>
                <a:lnTo>
                  <a:pt x="8887" y="3853"/>
                </a:lnTo>
                <a:cubicBezTo>
                  <a:pt x="8420" y="4126"/>
                  <a:pt x="7853" y="4340"/>
                  <a:pt x="7187" y="4495"/>
                </a:cubicBezTo>
                <a:cubicBezTo>
                  <a:pt x="6498" y="4656"/>
                  <a:pt x="5769" y="4737"/>
                  <a:pt x="4999" y="4737"/>
                </a:cubicBezTo>
                <a:cubicBezTo>
                  <a:pt x="4229" y="4737"/>
                  <a:pt x="3499" y="4656"/>
                  <a:pt x="2811" y="4495"/>
                </a:cubicBezTo>
                <a:cubicBezTo>
                  <a:pt x="2144" y="4340"/>
                  <a:pt x="1577" y="4126"/>
                  <a:pt x="1111" y="3853"/>
                </a:cubicBezTo>
                <a:moveTo>
                  <a:pt x="8887" y="7632"/>
                </a:moveTo>
                <a:lnTo>
                  <a:pt x="8887" y="6484"/>
                </a:lnTo>
                <a:cubicBezTo>
                  <a:pt x="8420" y="6758"/>
                  <a:pt x="7853" y="6972"/>
                  <a:pt x="7187" y="7126"/>
                </a:cubicBezTo>
                <a:cubicBezTo>
                  <a:pt x="6498" y="7287"/>
                  <a:pt x="5769" y="7368"/>
                  <a:pt x="4999" y="7368"/>
                </a:cubicBezTo>
                <a:cubicBezTo>
                  <a:pt x="4229" y="7368"/>
                  <a:pt x="3499" y="7287"/>
                  <a:pt x="2811" y="7126"/>
                </a:cubicBezTo>
                <a:cubicBezTo>
                  <a:pt x="2144" y="6972"/>
                  <a:pt x="1577" y="6758"/>
                  <a:pt x="1111" y="6484"/>
                </a:cubicBezTo>
                <a:lnTo>
                  <a:pt x="1111" y="7632"/>
                </a:lnTo>
                <a:cubicBezTo>
                  <a:pt x="1111" y="7722"/>
                  <a:pt x="1177" y="7831"/>
                  <a:pt x="1311" y="7958"/>
                </a:cubicBezTo>
                <a:cubicBezTo>
                  <a:pt x="1466" y="8098"/>
                  <a:pt x="1684" y="8234"/>
                  <a:pt x="1966" y="8368"/>
                </a:cubicBezTo>
                <a:cubicBezTo>
                  <a:pt x="2351" y="8550"/>
                  <a:pt x="2807" y="8693"/>
                  <a:pt x="3333" y="8795"/>
                </a:cubicBezTo>
                <a:cubicBezTo>
                  <a:pt x="3858" y="8896"/>
                  <a:pt x="4413" y="8947"/>
                  <a:pt x="4999" y="8947"/>
                </a:cubicBezTo>
                <a:cubicBezTo>
                  <a:pt x="5584" y="8947"/>
                  <a:pt x="6139" y="8896"/>
                  <a:pt x="6665" y="8795"/>
                </a:cubicBezTo>
                <a:cubicBezTo>
                  <a:pt x="7191" y="8693"/>
                  <a:pt x="7646" y="8550"/>
                  <a:pt x="8032" y="8368"/>
                </a:cubicBezTo>
                <a:cubicBezTo>
                  <a:pt x="8313" y="8234"/>
                  <a:pt x="8531" y="8098"/>
                  <a:pt x="8687" y="7958"/>
                </a:cubicBezTo>
                <a:cubicBezTo>
                  <a:pt x="8820" y="7831"/>
                  <a:pt x="8887" y="7722"/>
                  <a:pt x="8887" y="7632"/>
                </a:cubicBezTo>
                <a:moveTo>
                  <a:pt x="0" y="7632"/>
                </a:moveTo>
                <a:lnTo>
                  <a:pt x="0" y="2368"/>
                </a:lnTo>
                <a:cubicBezTo>
                  <a:pt x="0" y="1940"/>
                  <a:pt x="226" y="1540"/>
                  <a:pt x="678" y="1168"/>
                </a:cubicBezTo>
                <a:cubicBezTo>
                  <a:pt x="1122" y="817"/>
                  <a:pt x="1721" y="536"/>
                  <a:pt x="2477" y="326"/>
                </a:cubicBezTo>
                <a:cubicBezTo>
                  <a:pt x="3255" y="108"/>
                  <a:pt x="4095" y="0"/>
                  <a:pt x="4999" y="0"/>
                </a:cubicBezTo>
                <a:cubicBezTo>
                  <a:pt x="5902" y="0"/>
                  <a:pt x="6743" y="108"/>
                  <a:pt x="7521" y="326"/>
                </a:cubicBezTo>
                <a:cubicBezTo>
                  <a:pt x="8276" y="536"/>
                  <a:pt x="8876" y="817"/>
                  <a:pt x="9320" y="1168"/>
                </a:cubicBezTo>
                <a:cubicBezTo>
                  <a:pt x="9772" y="1540"/>
                  <a:pt x="9998" y="1940"/>
                  <a:pt x="9998" y="2368"/>
                </a:cubicBezTo>
                <a:lnTo>
                  <a:pt x="9998" y="7632"/>
                </a:lnTo>
                <a:cubicBezTo>
                  <a:pt x="9998" y="8060"/>
                  <a:pt x="9772" y="8460"/>
                  <a:pt x="9320" y="8832"/>
                </a:cubicBezTo>
                <a:cubicBezTo>
                  <a:pt x="8876" y="9182"/>
                  <a:pt x="8276" y="9463"/>
                  <a:pt x="7521" y="9674"/>
                </a:cubicBezTo>
                <a:cubicBezTo>
                  <a:pt x="6743" y="9891"/>
                  <a:pt x="5902" y="10000"/>
                  <a:pt x="4999" y="10000"/>
                </a:cubicBezTo>
                <a:cubicBezTo>
                  <a:pt x="4095" y="10000"/>
                  <a:pt x="3255" y="9891"/>
                  <a:pt x="2477" y="9674"/>
                </a:cubicBezTo>
                <a:cubicBezTo>
                  <a:pt x="1721" y="9463"/>
                  <a:pt x="1122" y="9182"/>
                  <a:pt x="678" y="8832"/>
                </a:cubicBezTo>
                <a:cubicBezTo>
                  <a:pt x="226" y="8460"/>
                  <a:pt x="0" y="8060"/>
                  <a:pt x="0" y="7632"/>
                </a:cubicBezTo>
                <a:moveTo>
                  <a:pt x="4999" y="3684"/>
                </a:moveTo>
                <a:cubicBezTo>
                  <a:pt x="5584" y="3684"/>
                  <a:pt x="6139" y="3633"/>
                  <a:pt x="6665" y="3532"/>
                </a:cubicBezTo>
                <a:cubicBezTo>
                  <a:pt x="7191" y="3430"/>
                  <a:pt x="7646" y="3287"/>
                  <a:pt x="8032" y="3105"/>
                </a:cubicBezTo>
                <a:cubicBezTo>
                  <a:pt x="8313" y="2971"/>
                  <a:pt x="8531" y="2835"/>
                  <a:pt x="8687" y="2695"/>
                </a:cubicBezTo>
                <a:cubicBezTo>
                  <a:pt x="8820" y="2568"/>
                  <a:pt x="8887" y="2459"/>
                  <a:pt x="8887" y="2368"/>
                </a:cubicBezTo>
                <a:cubicBezTo>
                  <a:pt x="8887" y="2277"/>
                  <a:pt x="8820" y="2168"/>
                  <a:pt x="8687" y="2042"/>
                </a:cubicBezTo>
                <a:cubicBezTo>
                  <a:pt x="8531" y="1902"/>
                  <a:pt x="8313" y="1765"/>
                  <a:pt x="8032" y="1632"/>
                </a:cubicBezTo>
                <a:cubicBezTo>
                  <a:pt x="7646" y="1449"/>
                  <a:pt x="7191" y="1307"/>
                  <a:pt x="6665" y="1205"/>
                </a:cubicBezTo>
                <a:cubicBezTo>
                  <a:pt x="6139" y="1103"/>
                  <a:pt x="5584" y="1053"/>
                  <a:pt x="4999" y="1053"/>
                </a:cubicBezTo>
                <a:cubicBezTo>
                  <a:pt x="4413" y="1053"/>
                  <a:pt x="3858" y="1103"/>
                  <a:pt x="3333" y="1205"/>
                </a:cubicBezTo>
                <a:cubicBezTo>
                  <a:pt x="2807" y="1307"/>
                  <a:pt x="2351" y="1449"/>
                  <a:pt x="1966" y="1632"/>
                </a:cubicBezTo>
                <a:cubicBezTo>
                  <a:pt x="1684" y="1765"/>
                  <a:pt x="1466" y="1902"/>
                  <a:pt x="1311" y="2042"/>
                </a:cubicBezTo>
                <a:cubicBezTo>
                  <a:pt x="1177" y="2168"/>
                  <a:pt x="1111" y="2277"/>
                  <a:pt x="1111" y="2368"/>
                </a:cubicBezTo>
                <a:cubicBezTo>
                  <a:pt x="1111" y="2459"/>
                  <a:pt x="1177" y="2568"/>
                  <a:pt x="1311" y="2695"/>
                </a:cubicBezTo>
                <a:cubicBezTo>
                  <a:pt x="1466" y="2835"/>
                  <a:pt x="1684" y="2971"/>
                  <a:pt x="1966" y="3105"/>
                </a:cubicBezTo>
                <a:cubicBezTo>
                  <a:pt x="2351" y="3287"/>
                  <a:pt x="2807" y="3430"/>
                  <a:pt x="3333" y="3532"/>
                </a:cubicBezTo>
                <a:cubicBezTo>
                  <a:pt x="3858" y="3633"/>
                  <a:pt x="4413" y="3684"/>
                  <a:pt x="4999" y="3684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1" name="AutoShape 16"/>
          <p:cNvSpPr/>
          <p:nvPr/>
        </p:nvSpPr>
        <p:spPr>
          <a:xfrm>
            <a:off x="6642313" y="2009191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7640" y="1856"/>
                </a:moveTo>
                <a:lnTo>
                  <a:pt x="9998" y="5000"/>
                </a:lnTo>
                <a:lnTo>
                  <a:pt x="7640" y="8144"/>
                </a:lnTo>
                <a:lnTo>
                  <a:pt x="7049" y="7356"/>
                </a:lnTo>
                <a:lnTo>
                  <a:pt x="8823" y="5000"/>
                </a:lnTo>
                <a:lnTo>
                  <a:pt x="7049" y="2644"/>
                </a:lnTo>
                <a:lnTo>
                  <a:pt x="7640" y="1856"/>
                </a:lnTo>
                <a:moveTo>
                  <a:pt x="2949" y="2644"/>
                </a:moveTo>
                <a:lnTo>
                  <a:pt x="1175" y="5000"/>
                </a:lnTo>
                <a:lnTo>
                  <a:pt x="2949" y="7356"/>
                </a:lnTo>
                <a:lnTo>
                  <a:pt x="2358" y="8144"/>
                </a:lnTo>
                <a:lnTo>
                  <a:pt x="0" y="5000"/>
                </a:lnTo>
                <a:lnTo>
                  <a:pt x="2358" y="1856"/>
                </a:lnTo>
                <a:lnTo>
                  <a:pt x="2949" y="2644"/>
                </a:lnTo>
                <a:moveTo>
                  <a:pt x="6807" y="0"/>
                </a:moveTo>
                <a:lnTo>
                  <a:pt x="4074" y="10000"/>
                </a:lnTo>
                <a:lnTo>
                  <a:pt x="3191" y="10000"/>
                </a:lnTo>
                <a:lnTo>
                  <a:pt x="5924" y="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2" name="AutoShape 30"/>
          <p:cNvSpPr/>
          <p:nvPr/>
        </p:nvSpPr>
        <p:spPr>
          <a:xfrm>
            <a:off x="6668440" y="4205646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33" y="827"/>
                </a:moveTo>
                <a:lnTo>
                  <a:pt x="4999" y="0"/>
                </a:lnTo>
                <a:lnTo>
                  <a:pt x="9565" y="827"/>
                </a:lnTo>
                <a:cubicBezTo>
                  <a:pt x="9691" y="851"/>
                  <a:pt x="9794" y="906"/>
                  <a:pt x="9876" y="991"/>
                </a:cubicBezTo>
                <a:cubicBezTo>
                  <a:pt x="9957" y="1075"/>
                  <a:pt x="9998" y="1169"/>
                  <a:pt x="9998" y="1273"/>
                </a:cubicBezTo>
                <a:lnTo>
                  <a:pt x="9998" y="5809"/>
                </a:lnTo>
                <a:cubicBezTo>
                  <a:pt x="9998" y="6269"/>
                  <a:pt x="9866" y="6700"/>
                  <a:pt x="9604" y="7100"/>
                </a:cubicBezTo>
                <a:cubicBezTo>
                  <a:pt x="9340" y="7500"/>
                  <a:pt x="8975" y="7827"/>
                  <a:pt x="8509" y="8082"/>
                </a:cubicBezTo>
                <a:lnTo>
                  <a:pt x="4999" y="10000"/>
                </a:lnTo>
                <a:lnTo>
                  <a:pt x="1489" y="8082"/>
                </a:lnTo>
                <a:cubicBezTo>
                  <a:pt x="1022" y="7827"/>
                  <a:pt x="657" y="7500"/>
                  <a:pt x="394" y="7100"/>
                </a:cubicBezTo>
                <a:cubicBezTo>
                  <a:pt x="131" y="6700"/>
                  <a:pt x="0" y="6269"/>
                  <a:pt x="0" y="5809"/>
                </a:cubicBezTo>
                <a:lnTo>
                  <a:pt x="0" y="1273"/>
                </a:lnTo>
                <a:cubicBezTo>
                  <a:pt x="0" y="1169"/>
                  <a:pt x="40" y="1075"/>
                  <a:pt x="122" y="991"/>
                </a:cubicBezTo>
                <a:cubicBezTo>
                  <a:pt x="203" y="906"/>
                  <a:pt x="307" y="851"/>
                  <a:pt x="433" y="827"/>
                </a:cubicBezTo>
                <a:moveTo>
                  <a:pt x="8887" y="1636"/>
                </a:moveTo>
                <a:lnTo>
                  <a:pt x="4999" y="927"/>
                </a:lnTo>
                <a:lnTo>
                  <a:pt x="1111" y="1636"/>
                </a:lnTo>
                <a:lnTo>
                  <a:pt x="1111" y="5809"/>
                </a:lnTo>
                <a:cubicBezTo>
                  <a:pt x="1111" y="6118"/>
                  <a:pt x="1198" y="6406"/>
                  <a:pt x="1372" y="6673"/>
                </a:cubicBezTo>
                <a:cubicBezTo>
                  <a:pt x="1546" y="6939"/>
                  <a:pt x="1788" y="7157"/>
                  <a:pt x="2100" y="7327"/>
                </a:cubicBezTo>
                <a:lnTo>
                  <a:pt x="4999" y="8909"/>
                </a:lnTo>
                <a:lnTo>
                  <a:pt x="7898" y="7327"/>
                </a:lnTo>
                <a:cubicBezTo>
                  <a:pt x="8209" y="7157"/>
                  <a:pt x="8452" y="6939"/>
                  <a:pt x="8626" y="6673"/>
                </a:cubicBezTo>
                <a:cubicBezTo>
                  <a:pt x="8800" y="6406"/>
                  <a:pt x="8887" y="6118"/>
                  <a:pt x="8887" y="5809"/>
                </a:cubicBezTo>
                <a:lnTo>
                  <a:pt x="8887" y="1636"/>
                </a:lnTo>
                <a:moveTo>
                  <a:pt x="4721" y="5536"/>
                </a:moveTo>
                <a:lnTo>
                  <a:pt x="7476" y="3282"/>
                </a:lnTo>
                <a:lnTo>
                  <a:pt x="8254" y="3927"/>
                </a:lnTo>
                <a:lnTo>
                  <a:pt x="4721" y="6818"/>
                </a:lnTo>
                <a:lnTo>
                  <a:pt x="2366" y="4891"/>
                </a:lnTo>
                <a:lnTo>
                  <a:pt x="3155" y="4245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3" name="TextBox 10"/>
          <p:cNvSpPr txBox="1"/>
          <p:nvPr/>
        </p:nvSpPr>
        <p:spPr>
          <a:xfrm>
            <a:off x="809263" y="2527870"/>
            <a:ext cx="506603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 dirty="0" err="1">
                <a:ln/>
                <a:solidFill>
                  <a:srgbClr val="0A1F3D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3.0 55 Regular"/>
              </a:rPr>
              <a:t>通信引擎版本老舊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TextBox 11"/>
          <p:cNvSpPr txBox="1"/>
          <p:nvPr/>
        </p:nvSpPr>
        <p:spPr>
          <a:xfrm>
            <a:off x="809263" y="2927920"/>
            <a:ext cx="5066033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 dirty="0" err="1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WebMethods</a:t>
            </a:r>
            <a:r>
              <a:rPr lang="en-US" sz="1100" b="0" i="0" strike="noStrike" dirty="0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 9.12缺乏現代RESTful </a:t>
            </a:r>
            <a:r>
              <a:rPr lang="en-US" sz="1100" b="0" i="0" strike="noStrike" dirty="0" err="1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API與容器化部署的原生支持，高峰期數據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sz="1100" b="0" i="0" strike="noStrike" dirty="0" err="1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延遲明顯，</a:t>
            </a:r>
            <a:r>
              <a:rPr sz="1100" b="0" i="0" strike="noStrike" dirty="0" err="1" smtClean="0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無法滿足</a:t>
            </a:r>
            <a:r>
              <a:rPr lang="zh-CN" altLang="en-US" sz="1100" b="0" i="0" strike="noStrike" dirty="0" smtClean="0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日益增長的</a:t>
            </a:r>
            <a:r>
              <a:rPr sz="1100" b="0" i="0" strike="noStrike" dirty="0" err="1" smtClean="0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數據吞吐需求</a:t>
            </a:r>
            <a:r>
              <a:rPr sz="1100" b="0" i="0" strike="noStrike" dirty="0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。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TextBox 17"/>
          <p:cNvSpPr txBox="1"/>
          <p:nvPr/>
        </p:nvSpPr>
        <p:spPr>
          <a:xfrm>
            <a:off x="6663805" y="2527870"/>
            <a:ext cx="4889685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 dirty="0" err="1">
                <a:ln/>
                <a:solidFill>
                  <a:srgbClr val="0A1F3D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3.0 55 Regular"/>
              </a:rPr>
              <a:t>前後端高度耦合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TextBox 18"/>
          <p:cNvSpPr txBox="1"/>
          <p:nvPr/>
        </p:nvSpPr>
        <p:spPr>
          <a:xfrm>
            <a:off x="6672515" y="2927920"/>
            <a:ext cx="5091320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 dirty="0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BuySell基於.NET 3.5 </a:t>
            </a:r>
            <a:r>
              <a:rPr lang="en-US" sz="1100" b="0" i="0" strike="noStrike" dirty="0" err="1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WebForm開發，代碼臃腫且新客戶對接硬編碼多，開發維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sz="1100" b="0" i="0" strike="noStrike" dirty="0" err="1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護成本居高不下</a:t>
            </a:r>
            <a:r>
              <a:rPr sz="1100" b="0" i="0" strike="noStrike" dirty="0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。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TextBox 24"/>
          <p:cNvSpPr txBox="1"/>
          <p:nvPr/>
        </p:nvSpPr>
        <p:spPr>
          <a:xfrm>
            <a:off x="809263" y="4736777"/>
            <a:ext cx="506603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 dirty="0" err="1">
                <a:ln/>
                <a:solidFill>
                  <a:srgbClr val="0A1F3D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3.0 55 Regular"/>
              </a:rPr>
              <a:t>數據庫性能瓶頸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TextBox 25"/>
          <p:cNvSpPr txBox="1"/>
          <p:nvPr/>
        </p:nvSpPr>
        <p:spPr>
          <a:xfrm>
            <a:off x="809263" y="5136827"/>
            <a:ext cx="5066033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 dirty="0" err="1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舊版Oracle面臨停維風險，數據結構化程度低，無法為AI智能分析與預測提供高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sz="1100" b="0" i="0" strike="noStrike" dirty="0" err="1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質量數據底座</a:t>
            </a:r>
            <a:r>
              <a:rPr sz="1100" b="0" i="0" strike="noStrike" dirty="0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。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TextBox 31"/>
          <p:cNvSpPr txBox="1"/>
          <p:nvPr/>
        </p:nvSpPr>
        <p:spPr>
          <a:xfrm>
            <a:off x="6672514" y="4736777"/>
            <a:ext cx="4796681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 dirty="0" err="1">
                <a:ln/>
                <a:solidFill>
                  <a:srgbClr val="0A1F3D">
                    <a:alpha val="10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3.0 55 Regular"/>
              </a:rPr>
              <a:t>安全合規障礙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TextBox 32"/>
          <p:cNvSpPr txBox="1"/>
          <p:nvPr/>
        </p:nvSpPr>
        <p:spPr>
          <a:xfrm>
            <a:off x="6681224" y="5136827"/>
            <a:ext cx="5091320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 dirty="0" err="1" smtClean="0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現有架構難以</a:t>
            </a:r>
            <a:r>
              <a:rPr lang="zh-CN" altLang="en-US" sz="1100" b="0" i="0" strike="noStrike" dirty="0" smtClean="0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符合集團內部</a:t>
            </a:r>
            <a:r>
              <a:rPr lang="en-US" sz="1100" b="0" i="0" strike="noStrike" dirty="0" err="1" smtClean="0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信息安全審計</a:t>
            </a:r>
            <a:r>
              <a:rPr lang="en-US" sz="1100" b="0" i="0" strike="noStrike" dirty="0" err="1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，直接阻礙海外頭部客戶拓展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sz="1100" b="0" i="0" strike="noStrike" dirty="0" err="1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與全球化佈局</a:t>
            </a:r>
            <a:r>
              <a:rPr sz="1100" b="0" i="0" strike="noStrike" dirty="0">
                <a:ln/>
                <a:solidFill>
                  <a:srgbClr val="0A1F3D">
                    <a:alpha val="78039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。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475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7</a:t>
            </a:fld>
            <a:r>
              <a:rPr lang="en-US" altLang="zh-TW" dirty="0"/>
              <a:t> /</a:t>
            </a:r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855601F4-FD62-E150-BE99-41E72B40D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6" name="TextBox 4"/>
          <p:cNvSpPr txBox="1">
            <a:spLocks noGrp="1"/>
          </p:cNvSpPr>
          <p:nvPr>
            <p:ph type="title"/>
          </p:nvPr>
        </p:nvSpPr>
        <p:spPr>
          <a:xfrm>
            <a:off x="432000" y="540000"/>
            <a:ext cx="8087311" cy="63994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>
              <a:defRPr/>
            </a:pPr>
            <a:r>
              <a:rPr lang="en-US" sz="3600" b="1" i="0" strike="noStrike" dirty="0" err="1">
                <a:ln/>
                <a:cs typeface="Alibaba PuHuiTi 3.0 55 Regular"/>
              </a:rPr>
              <a:t>升級核心要點與數位轉型願景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57238" y="1908787"/>
            <a:ext cx="209498" cy="2095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1111" y="1111"/>
                </a:moveTo>
                <a:lnTo>
                  <a:pt x="1111" y="4444"/>
                </a:lnTo>
                <a:lnTo>
                  <a:pt x="8887" y="4444"/>
                </a:lnTo>
                <a:lnTo>
                  <a:pt x="8887" y="1111"/>
                </a:lnTo>
                <a:lnTo>
                  <a:pt x="1111" y="1111"/>
                </a:lnTo>
                <a:moveTo>
                  <a:pt x="9998" y="556"/>
                </a:move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moveTo>
                  <a:pt x="8887" y="8889"/>
                </a:moveTo>
                <a:lnTo>
                  <a:pt x="8887" y="5556"/>
                </a:lnTo>
                <a:lnTo>
                  <a:pt x="1111" y="5556"/>
                </a:lnTo>
                <a:lnTo>
                  <a:pt x="1111" y="8889"/>
                </a:lnTo>
                <a:lnTo>
                  <a:pt x="8887" y="8889"/>
                </a:lnTo>
                <a:moveTo>
                  <a:pt x="2222" y="7778"/>
                </a:moveTo>
                <a:lnTo>
                  <a:pt x="2222" y="6667"/>
                </a:lnTo>
                <a:lnTo>
                  <a:pt x="3888" y="6667"/>
                </a:lnTo>
                <a:lnTo>
                  <a:pt x="3888" y="7778"/>
                </a:lnTo>
                <a:lnTo>
                  <a:pt x="2222" y="7778"/>
                </a:lnTo>
                <a:moveTo>
                  <a:pt x="2222" y="3333"/>
                </a:moveTo>
                <a:lnTo>
                  <a:pt x="2222" y="2222"/>
                </a:lnTo>
                <a:lnTo>
                  <a:pt x="3888" y="2222"/>
                </a:lnTo>
                <a:lnTo>
                  <a:pt x="3888" y="3333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1057795" y="1899944"/>
            <a:ext cx="1172174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 dirty="0" err="1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3.0 55 Regular"/>
              </a:rPr>
              <a:t>核心引擎躍升</a:t>
            </a:r>
            <a:endParaRPr lang="en-US" sz="11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296628" y="1938044"/>
            <a:ext cx="467055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 dirty="0">
                <a:ln/>
                <a:solidFill>
                  <a:srgbClr val="00E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Inter"/>
              </a:rPr>
              <a:t>v10.15</a:t>
            </a:r>
            <a:endParaRPr lang="en-US" sz="1100" dirty="0">
              <a:solidFill>
                <a:srgbClr val="00E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57795" y="2228557"/>
            <a:ext cx="6370421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 dirty="0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將WebMethods升級至10.15並適配Oracle 19c，徹底消除13年技術債，實現數據收發</a:t>
            </a:r>
            <a:endParaRPr lang="en-US" sz="11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sz="1200" b="0" i="0" strike="noStrike" dirty="0" err="1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與業務邏輯的徹底解耦</a:t>
            </a:r>
            <a:endParaRPr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57238" y="3343341"/>
            <a:ext cx="209498" cy="2095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8990"/>
                </a:moveTo>
                <a:lnTo>
                  <a:pt x="9246" y="6676"/>
                </a:lnTo>
                <a:lnTo>
                  <a:pt x="9877" y="7019"/>
                </a:lnTo>
                <a:cubicBezTo>
                  <a:pt x="9940" y="7057"/>
                  <a:pt x="9980" y="7107"/>
                  <a:pt x="9998" y="7171"/>
                </a:cubicBezTo>
                <a:cubicBezTo>
                  <a:pt x="10015" y="7235"/>
                  <a:pt x="10006" y="7295"/>
                  <a:pt x="9972" y="7352"/>
                </a:cubicBezTo>
                <a:cubicBezTo>
                  <a:pt x="9950" y="7384"/>
                  <a:pt x="9919" y="7409"/>
                  <a:pt x="9877" y="7429"/>
                </a:cubicBezTo>
                <a:lnTo>
                  <a:pt x="5272" y="9933"/>
                </a:lnTo>
                <a:cubicBezTo>
                  <a:pt x="5188" y="9977"/>
                  <a:pt x="5097" y="10000"/>
                  <a:pt x="4999" y="10000"/>
                </a:cubicBezTo>
                <a:cubicBezTo>
                  <a:pt x="4901" y="10000"/>
                  <a:pt x="4810" y="9977"/>
                  <a:pt x="4726" y="9933"/>
                </a:cubicBezTo>
                <a:lnTo>
                  <a:pt x="121" y="7429"/>
                </a:lnTo>
                <a:cubicBezTo>
                  <a:pt x="57" y="7397"/>
                  <a:pt x="17" y="7349"/>
                  <a:pt x="0" y="7286"/>
                </a:cubicBezTo>
                <a:cubicBezTo>
                  <a:pt x="-17" y="7222"/>
                  <a:pt x="-8" y="7161"/>
                  <a:pt x="26" y="7105"/>
                </a:cubicBezTo>
                <a:cubicBezTo>
                  <a:pt x="47" y="7073"/>
                  <a:pt x="79" y="7044"/>
                  <a:pt x="121" y="7019"/>
                </a:cubicBezTo>
                <a:lnTo>
                  <a:pt x="752" y="6676"/>
                </a:lnTo>
                <a:lnTo>
                  <a:pt x="4999" y="8990"/>
                </a:lnTo>
                <a:moveTo>
                  <a:pt x="4999" y="6752"/>
                </a:moveTo>
                <a:lnTo>
                  <a:pt x="9246" y="4438"/>
                </a:lnTo>
                <a:lnTo>
                  <a:pt x="9877" y="4781"/>
                </a:lnTo>
                <a:cubicBezTo>
                  <a:pt x="9940" y="4819"/>
                  <a:pt x="9980" y="4869"/>
                  <a:pt x="9998" y="4933"/>
                </a:cubicBezTo>
                <a:cubicBezTo>
                  <a:pt x="10015" y="4997"/>
                  <a:pt x="10006" y="5057"/>
                  <a:pt x="9972" y="5114"/>
                </a:cubicBezTo>
                <a:cubicBezTo>
                  <a:pt x="9950" y="5146"/>
                  <a:pt x="9919" y="5171"/>
                  <a:pt x="9877" y="5190"/>
                </a:cubicBezTo>
                <a:lnTo>
                  <a:pt x="4999" y="7848"/>
                </a:lnTo>
                <a:lnTo>
                  <a:pt x="121" y="5190"/>
                </a:lnTo>
                <a:cubicBezTo>
                  <a:pt x="57" y="5158"/>
                  <a:pt x="17" y="5111"/>
                  <a:pt x="0" y="5048"/>
                </a:cubicBezTo>
                <a:cubicBezTo>
                  <a:pt x="-17" y="4984"/>
                  <a:pt x="-8" y="4923"/>
                  <a:pt x="26" y="4867"/>
                </a:cubicBezTo>
                <a:cubicBezTo>
                  <a:pt x="47" y="4835"/>
                  <a:pt x="79" y="4806"/>
                  <a:pt x="121" y="4781"/>
                </a:cubicBezTo>
                <a:lnTo>
                  <a:pt x="752" y="4438"/>
                </a:lnTo>
                <a:lnTo>
                  <a:pt x="4999" y="6752"/>
                </a:lnTo>
                <a:moveTo>
                  <a:pt x="5272" y="67"/>
                </a:moveTo>
                <a:lnTo>
                  <a:pt x="9877" y="2571"/>
                </a:lnTo>
                <a:cubicBezTo>
                  <a:pt x="9940" y="2603"/>
                  <a:pt x="9980" y="2650"/>
                  <a:pt x="9998" y="2714"/>
                </a:cubicBezTo>
                <a:cubicBezTo>
                  <a:pt x="10015" y="2778"/>
                  <a:pt x="10006" y="2838"/>
                  <a:pt x="9972" y="2895"/>
                </a:cubicBezTo>
                <a:cubicBezTo>
                  <a:pt x="9950" y="2927"/>
                  <a:pt x="9919" y="2955"/>
                  <a:pt x="9877" y="2981"/>
                </a:cubicBezTo>
                <a:lnTo>
                  <a:pt x="4999" y="5629"/>
                </a:lnTo>
                <a:lnTo>
                  <a:pt x="121" y="2981"/>
                </a:lnTo>
                <a:cubicBezTo>
                  <a:pt x="57" y="2943"/>
                  <a:pt x="17" y="2892"/>
                  <a:pt x="0" y="2829"/>
                </a:cubicBezTo>
                <a:cubicBezTo>
                  <a:pt x="-17" y="2765"/>
                  <a:pt x="-8" y="2704"/>
                  <a:pt x="26" y="2648"/>
                </a:cubicBezTo>
                <a:cubicBezTo>
                  <a:pt x="47" y="2616"/>
                  <a:pt x="79" y="2590"/>
                  <a:pt x="121" y="2571"/>
                </a:cubicBezTo>
                <a:lnTo>
                  <a:pt x="4726" y="67"/>
                </a:lnTo>
                <a:cubicBezTo>
                  <a:pt x="4810" y="22"/>
                  <a:pt x="4901" y="0"/>
                  <a:pt x="4999" y="0"/>
                </a:cubicBezTo>
                <a:cubicBezTo>
                  <a:pt x="5097" y="0"/>
                  <a:pt x="5188" y="22"/>
                  <a:pt x="5272" y="67"/>
                </a:cubicBezTo>
                <a:moveTo>
                  <a:pt x="8216" y="2771"/>
                </a:moveTo>
                <a:lnTo>
                  <a:pt x="4999" y="1029"/>
                </a:lnTo>
                <a:lnTo>
                  <a:pt x="1782" y="2771"/>
                </a:lnTo>
                <a:lnTo>
                  <a:pt x="4999" y="4524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2" name="TextBox 12"/>
          <p:cNvSpPr txBox="1"/>
          <p:nvPr/>
        </p:nvSpPr>
        <p:spPr>
          <a:xfrm>
            <a:off x="1057795" y="3334498"/>
            <a:ext cx="1172174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 dirty="0" err="1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3.0 55 Regular"/>
              </a:rPr>
              <a:t>業務平台重構</a:t>
            </a:r>
            <a:endParaRPr lang="en-US" sz="11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296628" y="3372598"/>
            <a:ext cx="599181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 dirty="0">
                <a:ln/>
                <a:solidFill>
                  <a:srgbClr val="00E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Inter"/>
              </a:rPr>
              <a:t>.NET 8.0</a:t>
            </a:r>
            <a:endParaRPr lang="en-US" sz="1100" dirty="0">
              <a:solidFill>
                <a:srgbClr val="00E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57795" y="3663111"/>
            <a:ext cx="5779040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 dirty="0" err="1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BuySell</a:t>
            </a:r>
            <a:r>
              <a:rPr lang="en-US" sz="1200" b="0" i="0" strike="noStrike" dirty="0" err="1" smtClean="0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系統全面轉向</a:t>
            </a:r>
            <a:r>
              <a:rPr lang="zh-CN" altLang="en-US" sz="1200" b="0" i="0" strike="noStrike" dirty="0" smtClean="0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目前主流前後端分離</a:t>
            </a:r>
            <a:r>
              <a:rPr lang="en-US" sz="1200" b="0" i="0" strike="noStrike" dirty="0" smtClean="0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架構</a:t>
            </a:r>
            <a:r>
              <a:rPr lang="en-US" sz="1200" b="0" i="0" strike="noStrike" dirty="0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，</a:t>
            </a:r>
            <a:r>
              <a:rPr lang="en-US" sz="1200" b="0" i="0" strike="noStrike" dirty="0" smtClean="0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以微服務化設計支撐</a:t>
            </a:r>
            <a:r>
              <a:rPr sz="1200" b="0" i="0" strike="noStrike" dirty="0" smtClean="0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未來</a:t>
            </a:r>
            <a:r>
              <a:rPr sz="1200" b="0" i="0" strike="noStrike" dirty="0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3至5年的業務爆發式增長</a:t>
            </a:r>
            <a:endParaRPr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57238" y="4777895"/>
            <a:ext cx="209498" cy="2095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3999" y="4000"/>
                </a:moveTo>
                <a:lnTo>
                  <a:pt x="7249" y="2750"/>
                </a:lnTo>
                <a:lnTo>
                  <a:pt x="5999" y="6000"/>
                </a:lnTo>
                <a:lnTo>
                  <a:pt x="2749" y="7250"/>
                </a:lnTo>
                <a:lnTo>
                  <a:pt x="3999" y="4000"/>
                </a:lnTo>
                <a:moveTo>
                  <a:pt x="4999" y="5500"/>
                </a:moveTo>
                <a:cubicBezTo>
                  <a:pt x="5139" y="5500"/>
                  <a:pt x="5257" y="5451"/>
                  <a:pt x="5354" y="5355"/>
                </a:cubicBezTo>
                <a:cubicBezTo>
                  <a:pt x="5450" y="5258"/>
                  <a:pt x="5499" y="5140"/>
                  <a:pt x="5499" y="5000"/>
                </a:cubicBezTo>
                <a:cubicBezTo>
                  <a:pt x="5499" y="4860"/>
                  <a:pt x="5450" y="4741"/>
                  <a:pt x="5354" y="4645"/>
                </a:cubicBezTo>
                <a:cubicBezTo>
                  <a:pt x="5257" y="4548"/>
                  <a:pt x="5139" y="4500"/>
                  <a:pt x="4999" y="4500"/>
                </a:cubicBezTo>
                <a:cubicBezTo>
                  <a:pt x="4859" y="4500"/>
                  <a:pt x="4740" y="4548"/>
                  <a:pt x="4644" y="4645"/>
                </a:cubicBezTo>
                <a:cubicBezTo>
                  <a:pt x="4547" y="4741"/>
                  <a:pt x="4499" y="4860"/>
                  <a:pt x="4499" y="5000"/>
                </a:cubicBezTo>
                <a:cubicBezTo>
                  <a:pt x="4499" y="5140"/>
                  <a:pt x="4547" y="5258"/>
                  <a:pt x="4644" y="5355"/>
                </a:cubicBezTo>
                <a:cubicBezTo>
                  <a:pt x="4740" y="5451"/>
                  <a:pt x="4859" y="5500"/>
                  <a:pt x="4999" y="55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1057795" y="4769052"/>
            <a:ext cx="1172174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 dirty="0" err="1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3.0 55 Regular"/>
              </a:rPr>
              <a:t>戰略價值對齊</a:t>
            </a:r>
            <a:endParaRPr lang="en-US" sz="11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296628" y="4807152"/>
            <a:ext cx="41929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 dirty="0">
                <a:ln/>
                <a:solidFill>
                  <a:srgbClr val="00EC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 3.0 55 Regular"/>
              </a:rPr>
              <a:t>3–5年</a:t>
            </a:r>
            <a:endParaRPr lang="en-US" sz="1100" dirty="0">
              <a:solidFill>
                <a:srgbClr val="00EC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57795" y="5097665"/>
            <a:ext cx="5779040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 dirty="0" err="1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新系統從單純的「數據搬運工具」進化為「供應鏈協同樞紐</a:t>
            </a:r>
            <a:r>
              <a:rPr lang="en-US" sz="1200" b="0" i="0" strike="noStrike" dirty="0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」，</a:t>
            </a:r>
            <a:r>
              <a:rPr lang="en-US" sz="1200" b="0" i="0" strike="noStrike" dirty="0" err="1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直接支撐公司國際化</a:t>
            </a:r>
            <a:endParaRPr lang="en-US" sz="11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sz="1200" b="0" i="0" strike="noStrike" dirty="0" err="1">
                <a:ln/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FZYaYiHei GB18030L2 R"/>
              </a:rPr>
              <a:t>擴張、信息安全合規與AI智能化運營</a:t>
            </a:r>
            <a:endParaRPr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227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861746" y="2729992"/>
            <a:ext cx="11003794" cy="770259"/>
          </a:xfrm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40CAB83F-6ABD-1F32-0D6A-0D0D929A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8</a:t>
            </a:fld>
            <a:r>
              <a:rPr lang="en-US" altLang="zh-TW" dirty="0"/>
              <a:t> /</a:t>
            </a:r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855601F4-FD62-E150-BE99-41E72B40D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 dirty="0" smtClean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4080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6">
            <a:extLst>
              <a:ext uri="{FF2B5EF4-FFF2-40B4-BE49-F238E27FC236}">
                <a16:creationId xmlns:a16="http://schemas.microsoft.com/office/drawing/2014/main" id="{286EAC1A-421E-A5ED-4030-11330F63A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9</a:t>
            </a:fld>
            <a:r>
              <a:rPr lang="en-US" altLang="zh-TW"/>
              <a:t> /</a:t>
            </a:r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8FEC7AA5-A1A3-B470-80B9-3C59CE3E8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F692425-7112-4EE8-761A-E1EC186AD612}"/>
              </a:ext>
            </a:extLst>
          </p:cNvPr>
          <p:cNvSpPr txBox="1"/>
          <p:nvPr/>
        </p:nvSpPr>
        <p:spPr>
          <a:xfrm>
            <a:off x="1855762" y="2253647"/>
            <a:ext cx="93309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u="none" strike="noStrike" kern="1200" cap="none" spc="10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HON HAI TECHNOLOGY GROUP</a:t>
            </a:r>
            <a:endParaRPr lang="en" altLang="zh-TW" sz="2000" b="1" spc="100" dirty="0">
              <a:solidFill>
                <a:srgbClr val="FFFFFF"/>
              </a:solidFill>
              <a:latin typeface="Arial" panose="020B0604020202020204" pitchFamily="34" charset="0"/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A596B733-61CF-E7EF-8094-6B58843C81C8}"/>
              </a:ext>
            </a:extLst>
          </p:cNvPr>
          <p:cNvSpPr txBox="1"/>
          <p:nvPr/>
        </p:nvSpPr>
        <p:spPr>
          <a:xfrm>
            <a:off x="1924425" y="2637171"/>
            <a:ext cx="9330971" cy="1231106"/>
          </a:xfrm>
          <a:prstGeom prst="rect">
            <a:avLst/>
          </a:prstGeom>
          <a:ln w="12700">
            <a:miter lim="400000"/>
          </a:ln>
          <a:effectLst>
            <a:outerShdw blurRad="127000" dist="127000" dir="5400000" sx="112000" sy="112000" algn="t" rotWithShape="0">
              <a:prstClr val="black"/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indent="17445" algn="ctr">
              <a:spcBef>
                <a:spcPts val="100"/>
              </a:spcBef>
              <a:defRPr sz="6000" b="1" spc="782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lvl="0" algn="l">
              <a:defRPr/>
            </a:pPr>
            <a:r>
              <a:rPr lang="en-US" altLang="zh-TW" sz="8000" noProof="0" dirty="0" smtClean="0"/>
              <a:t>THANK YOU</a:t>
            </a:r>
            <a:endParaRPr kumimoji="1" lang="zh-TW" altLang="en-US" sz="8000" u="none" strike="noStrike" kern="1200" cap="none" spc="200" normalizeH="0" noProof="0" dirty="0">
              <a:ln w="12700">
                <a:noFill/>
              </a:ln>
              <a:effectLst/>
              <a:uLnTx/>
              <a:uFillTx/>
              <a:latin typeface="YouSheBiaoTiHei" pitchFamily="2" charset="-122"/>
              <a:ea typeface="Microsoft YaHei" panose="020B0503020204020204" pitchFamily="34" charset="-122"/>
              <a:sym typeface="Microsoft YaHei"/>
            </a:endParaRPr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C5FB1F66-FCE6-4F3D-8E80-1CAF783BD1A3}"/>
              </a:ext>
            </a:extLst>
          </p:cNvPr>
          <p:cNvCxnSpPr>
            <a:cxnSpLocks/>
          </p:cNvCxnSpPr>
          <p:nvPr/>
        </p:nvCxnSpPr>
        <p:spPr>
          <a:xfrm>
            <a:off x="1698516" y="2345231"/>
            <a:ext cx="0" cy="193093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4FCCD747-E566-AA23-7370-77D19EB50B65}"/>
              </a:ext>
            </a:extLst>
          </p:cNvPr>
          <p:cNvSpPr txBox="1"/>
          <p:nvPr/>
        </p:nvSpPr>
        <p:spPr>
          <a:xfrm>
            <a:off x="1811567" y="3699495"/>
            <a:ext cx="9443811" cy="656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TW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Speaker</a:t>
            </a:r>
            <a:endParaRPr kumimoji="0" lang="en" altLang="zh-TW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icrosoft YaHei UI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121917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TW" sz="1400" dirty="0" smtClean="0">
                <a:solidFill>
                  <a:srgbClr val="FFFFFF"/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Sep</a:t>
            </a:r>
            <a:r>
              <a:rPr kumimoji="0" lang="en" altLang="zh-TW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. 09, </a:t>
            </a:r>
            <a:r>
              <a:rPr kumimoji="0" lang="en" altLang="zh-TW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17326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2_Office 佈景主題">
  <a:themeElements>
    <a:clrScheme name="Foxconn2023">
      <a:dk1>
        <a:srgbClr val="000000"/>
      </a:dk1>
      <a:lt1>
        <a:srgbClr val="FFFFFF"/>
      </a:lt1>
      <a:dk2>
        <a:srgbClr val="4B4B4B"/>
      </a:dk2>
      <a:lt2>
        <a:srgbClr val="E7E6E6"/>
      </a:lt2>
      <a:accent1>
        <a:srgbClr val="FB0C24"/>
      </a:accent1>
      <a:accent2>
        <a:srgbClr val="3698E1"/>
      </a:accent2>
      <a:accent3>
        <a:srgbClr val="00ECFF"/>
      </a:accent3>
      <a:accent4>
        <a:srgbClr val="002A88"/>
      </a:accent4>
      <a:accent5>
        <a:srgbClr val="4472C4"/>
      </a:accent5>
      <a:accent6>
        <a:srgbClr val="FFFFFF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鴻海集團簡報版型(台灣地區)_2026_dark mode 1" id="{7438BA62-426C-4E45-9D26-CF238E9D644C}" vid="{042B998B-4AB7-46A8-9743-2876069DEEE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B1D48CF5C71C4B901469497BE97C95" ma:contentTypeVersion="6" ma:contentTypeDescription="Create a new document." ma:contentTypeScope="" ma:versionID="96b99486762059597dc29f6c66745e58">
  <xsd:schema xmlns:xsd="http://www.w3.org/2001/XMLSchema" xmlns:xs="http://www.w3.org/2001/XMLSchema" xmlns:p="http://schemas.microsoft.com/office/2006/metadata/properties" xmlns:ns2="8c574a9d-dc0a-44db-b9dd-00599ad78b7c" xmlns:ns3="734a0fd3-5ab2-4644-a33f-a088ed12cd6e" targetNamespace="http://schemas.microsoft.com/office/2006/metadata/properties" ma:root="true" ma:fieldsID="213c8db7c41208b185c321c03d4217c0" ns2:_="" ns3:_="">
    <xsd:import namespace="8c574a9d-dc0a-44db-b9dd-00599ad78b7c"/>
    <xsd:import namespace="734a0fd3-5ab2-4644-a33f-a088ed12cd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574a9d-dc0a-44db-b9dd-00599ad78b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a0fd3-5ab2-4644-a33f-a088ed12cd6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4a0fd3-5ab2-4644-a33f-a088ed12cd6e">
      <UserInfo>
        <DisplayName>Miffy Wang (王鈴慧)</DisplayName>
        <AccountId>154</AccountId>
        <AccountType/>
      </UserInfo>
      <UserInfo>
        <DisplayName>Hans (TestWVD)</DisplayName>
        <AccountId>8125</AccountId>
        <AccountType/>
      </UserInfo>
      <UserInfo>
        <DisplayName>Mago Lin(林瑞芳)</DisplayName>
        <AccountId>826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0B4B2C-6157-4F2B-904D-8742BD32C2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574a9d-dc0a-44db-b9dd-00599ad78b7c"/>
    <ds:schemaRef ds:uri="734a0fd3-5ab2-4644-a33f-a088ed12cd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C0F7E1-9319-452E-8E07-45B1E0A0FBE0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8c574a9d-dc0a-44db-b9dd-00599ad78b7c"/>
    <ds:schemaRef ds:uri="http://purl.org/dc/terms/"/>
    <ds:schemaRef ds:uri="http://schemas.openxmlformats.org/package/2006/metadata/core-properties"/>
    <ds:schemaRef ds:uri="734a0fd3-5ab2-4644-a33f-a088ed12cd6e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1AA1840-26A9-4EBE-82FD-3B9FDF70796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2_鴻海集團簡報版型(台灣地區)_202601_dark mode</Template>
  <TotalTime>178</TotalTime>
  <Words>204</Words>
  <Application>Microsoft Office PowerPoint</Application>
  <PresentationFormat>宽屏</PresentationFormat>
  <Paragraphs>71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Alibaba PuHuiTi 3.0 55 Regular</vt:lpstr>
      <vt:lpstr>FZYaYiHei GB18030L2 R</vt:lpstr>
      <vt:lpstr>Microsoft YaHei</vt:lpstr>
      <vt:lpstr>Microsoft YaHei UI</vt:lpstr>
      <vt:lpstr>YouSheBiaoTiHei</vt:lpstr>
      <vt:lpstr>微軟正黑體</vt:lpstr>
      <vt:lpstr>微軟正黑體</vt:lpstr>
      <vt:lpstr>新細明體</vt:lpstr>
      <vt:lpstr>Arial</vt:lpstr>
      <vt:lpstr>Calibri</vt:lpstr>
      <vt:lpstr>Inter</vt:lpstr>
      <vt:lpstr>Tahoma</vt:lpstr>
      <vt:lpstr>Wingdings</vt:lpstr>
      <vt:lpstr>2_Office 佈景主題</vt:lpstr>
      <vt:lpstr>PowerPoint 演示文稿</vt:lpstr>
      <vt:lpstr>PowerPoint 演示文稿</vt:lpstr>
      <vt:lpstr>PowerPoint 演示文稿</vt:lpstr>
      <vt:lpstr>目錄</vt:lpstr>
      <vt:lpstr>項目背景與核心要點 </vt:lpstr>
      <vt:lpstr>現有系統痛點與技術債分析 </vt:lpstr>
      <vt:lpstr>升級核心要點與數位轉型願景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Candy Huang</dc:creator>
  <cp:lastModifiedBy>梁向朋</cp:lastModifiedBy>
  <cp:revision>23</cp:revision>
  <dcterms:created xsi:type="dcterms:W3CDTF">2026-03-09T01:34:14Z</dcterms:created>
  <dcterms:modified xsi:type="dcterms:W3CDTF">2026-09-11T09:26:31Z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ContentTypeId">
    <vt:lpwstr>0x010100C1B1D48CF5C71C4B901469497BE97C95</vt:lpwstr>
  </property>
  <property fmtid="{D5CDD505-2E9C-101B-9397-08002B2CF9AE}" pid="4" name="MediaServiceImageTags">
    <vt:lpwstr/>
  </property>
</Properties>
</file>